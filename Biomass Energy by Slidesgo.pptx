
<file path=[Content_Types].xml><?xml version="1.0" encoding="utf-8"?>
<Types xmlns="http://schemas.openxmlformats.org/package/2006/content-types">
  <Default Extension="fntdata" ContentType="application/x-fontdata"/>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2"/>
  </p:notesMasterIdLst>
  <p:sldIdLst>
    <p:sldId id="256" r:id="rId2"/>
    <p:sldId id="257" r:id="rId3"/>
    <p:sldId id="269" r:id="rId4"/>
    <p:sldId id="266" r:id="rId5"/>
    <p:sldId id="260" r:id="rId6"/>
    <p:sldId id="261" r:id="rId7"/>
    <p:sldId id="273" r:id="rId8"/>
    <p:sldId id="272" r:id="rId9"/>
    <p:sldId id="263" r:id="rId10"/>
    <p:sldId id="274" r:id="rId11"/>
  </p:sldIdLst>
  <p:sldSz cx="18288000" cy="10287000"/>
  <p:notesSz cx="6858000" cy="9144000"/>
  <p:embeddedFontLst>
    <p:embeddedFont>
      <p:font typeface="Arimo Bold" panose="020B0604020202020204" charset="0"/>
      <p:regular r:id="rId13"/>
    </p:embeddedFont>
    <p:embeddedFont>
      <p:font typeface="Century Gothic" panose="020B0502020202020204" pitchFamily="34" charset="0"/>
      <p:regular r:id="rId14"/>
      <p:bold r:id="rId15"/>
      <p:italic r:id="rId16"/>
      <p:boldItalic r:id="rId17"/>
    </p:embeddedFont>
    <p:embeddedFont>
      <p:font typeface="Inter" panose="020B0604020202020204" charset="0"/>
      <p:regular r:id="rId18"/>
    </p:embeddedFont>
    <p:embeddedFont>
      <p:font typeface="Wingdings 3" panose="05040102010807070707" pitchFamily="18"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6" d="100"/>
          <a:sy n="66" d="100"/>
        </p:scale>
        <p:origin x="1002"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4" Type="http://schemas.openxmlformats.org/officeDocument/2006/relationships/image" Target="../media/image18.svg"/></Relationships>
</file>

<file path=ppt/diagrams/_rels/data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5" Type="http://schemas.openxmlformats.org/officeDocument/2006/relationships/image" Target="../media/image26.sv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5" Type="http://schemas.openxmlformats.org/officeDocument/2006/relationships/image" Target="../media/image26.sv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C89E8A-CD3E-408A-B077-8796C20BF65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81F13D2-BF14-474A-A9DA-60C0869FFB04}">
      <dgm:prSet/>
      <dgm:spPr/>
      <dgm:t>
        <a:bodyPr/>
        <a:lstStyle/>
        <a:p>
          <a:pPr>
            <a:lnSpc>
              <a:spcPct val="100000"/>
            </a:lnSpc>
          </a:pPr>
          <a:r>
            <a:rPr lang="en-US" dirty="0">
              <a:solidFill>
                <a:schemeClr val="bg1"/>
              </a:solidFill>
              <a:latin typeface="Inter" panose="020B0604020202020204" charset="0"/>
              <a:ea typeface="Inter" panose="020B0604020202020204" charset="0"/>
            </a:rPr>
            <a:t>The global dataset covers all countries around the world​</a:t>
          </a:r>
        </a:p>
      </dgm:t>
    </dgm:pt>
    <dgm:pt modelId="{CBD4B8B1-508A-4DB3-8B64-CE67D0351D5D}" type="parTrans" cxnId="{6DEF52B6-832A-49FC-A818-69E6DE35E238}">
      <dgm:prSet/>
      <dgm:spPr/>
      <dgm:t>
        <a:bodyPr/>
        <a:lstStyle/>
        <a:p>
          <a:endParaRPr lang="en-US"/>
        </a:p>
      </dgm:t>
    </dgm:pt>
    <dgm:pt modelId="{7F7B0405-8064-4B76-9942-06CAA1B4423C}" type="sibTrans" cxnId="{6DEF52B6-832A-49FC-A818-69E6DE35E238}">
      <dgm:prSet/>
      <dgm:spPr/>
      <dgm:t>
        <a:bodyPr/>
        <a:lstStyle/>
        <a:p>
          <a:endParaRPr lang="en-US"/>
        </a:p>
      </dgm:t>
    </dgm:pt>
    <dgm:pt modelId="{1FEE4580-D4AD-440B-8C41-47E00E9DFEDC}">
      <dgm:prSet/>
      <dgm:spPr/>
      <dgm:t>
        <a:bodyPr/>
        <a:lstStyle/>
        <a:p>
          <a:pPr>
            <a:lnSpc>
              <a:spcPct val="100000"/>
            </a:lnSpc>
          </a:pPr>
          <a:r>
            <a:rPr lang="en-US" dirty="0">
              <a:solidFill>
                <a:schemeClr val="bg1"/>
              </a:solidFill>
              <a:latin typeface="Inter" panose="020B0604020202020204" charset="0"/>
              <a:ea typeface="Inter" panose="020B0604020202020204" charset="0"/>
            </a:rPr>
            <a:t>Time range: last 10 years ​</a:t>
          </a:r>
          <a:br>
            <a:rPr lang="pl-PL" dirty="0">
              <a:solidFill>
                <a:schemeClr val="bg1"/>
              </a:solidFill>
              <a:latin typeface="Inter" panose="020B0604020202020204" charset="0"/>
              <a:ea typeface="Inter" panose="020B0604020202020204" charset="0"/>
            </a:rPr>
          </a:br>
          <a:r>
            <a:rPr lang="en-US" dirty="0">
              <a:solidFill>
                <a:schemeClr val="bg1"/>
              </a:solidFill>
              <a:latin typeface="Inter" panose="020B0604020202020204" charset="0"/>
              <a:ea typeface="Inter" panose="020B0604020202020204" charset="0"/>
            </a:rPr>
            <a:t>[2016-2025]</a:t>
          </a:r>
        </a:p>
      </dgm:t>
    </dgm:pt>
    <dgm:pt modelId="{2C32A123-5C45-4001-BD2D-79A705399DDC}" type="parTrans" cxnId="{7A6F9DA3-8FE3-4579-A32F-50C98A21F4BA}">
      <dgm:prSet/>
      <dgm:spPr/>
      <dgm:t>
        <a:bodyPr/>
        <a:lstStyle/>
        <a:p>
          <a:endParaRPr lang="en-US"/>
        </a:p>
      </dgm:t>
    </dgm:pt>
    <dgm:pt modelId="{101508AA-30B3-4837-9530-2653A4B4AF93}" type="sibTrans" cxnId="{7A6F9DA3-8FE3-4579-A32F-50C98A21F4BA}">
      <dgm:prSet/>
      <dgm:spPr/>
      <dgm:t>
        <a:bodyPr/>
        <a:lstStyle/>
        <a:p>
          <a:endParaRPr lang="en-US"/>
        </a:p>
      </dgm:t>
    </dgm:pt>
    <dgm:pt modelId="{081DF061-468D-4065-AA6C-C97F9A5FC0BB}">
      <dgm:prSet/>
      <dgm:spPr/>
      <dgm:t>
        <a:bodyPr/>
        <a:lstStyle/>
        <a:p>
          <a:pPr>
            <a:lnSpc>
              <a:spcPct val="100000"/>
            </a:lnSpc>
          </a:pPr>
          <a:r>
            <a:rPr lang="en-US" dirty="0">
              <a:solidFill>
                <a:schemeClr val="bg1"/>
              </a:solidFill>
              <a:latin typeface="Inter" panose="020B0604020202020204" charset="0"/>
              <a:ea typeface="Inter" panose="020B0604020202020204" charset="0"/>
            </a:rPr>
            <a:t>Contains energy production by source: ​coal, gas, oil, hydro, nuclear, solar, wind and biofuel ​</a:t>
          </a:r>
        </a:p>
      </dgm:t>
    </dgm:pt>
    <dgm:pt modelId="{73AB9D46-9EBA-470E-A050-C1BCEF5B5072}" type="parTrans" cxnId="{D0975F23-4E3C-4DFB-86AA-BF91D5CD22F4}">
      <dgm:prSet/>
      <dgm:spPr/>
      <dgm:t>
        <a:bodyPr/>
        <a:lstStyle/>
        <a:p>
          <a:endParaRPr lang="en-US"/>
        </a:p>
      </dgm:t>
    </dgm:pt>
    <dgm:pt modelId="{CAF5320B-63B1-450E-B018-C934F5A78084}" type="sibTrans" cxnId="{D0975F23-4E3C-4DFB-86AA-BF91D5CD22F4}">
      <dgm:prSet/>
      <dgm:spPr/>
      <dgm:t>
        <a:bodyPr/>
        <a:lstStyle/>
        <a:p>
          <a:endParaRPr lang="en-US"/>
        </a:p>
      </dgm:t>
    </dgm:pt>
    <dgm:pt modelId="{C332F063-E13E-4341-990A-AD5C7FD6558D}">
      <dgm:prSet/>
      <dgm:spPr/>
      <dgm:t>
        <a:bodyPr/>
        <a:lstStyle/>
        <a:p>
          <a:pPr>
            <a:lnSpc>
              <a:spcPct val="100000"/>
            </a:lnSpc>
          </a:pPr>
          <a:r>
            <a:rPr lang="en-US" dirty="0">
              <a:solidFill>
                <a:schemeClr val="bg1"/>
              </a:solidFill>
              <a:latin typeface="Inter" panose="020B0604020202020204" charset="0"/>
              <a:ea typeface="Inter" panose="020B0604020202020204" charset="0"/>
            </a:rPr>
            <a:t>Includes renewable share (%) and carbon intensity (CO₂ per kWh)​</a:t>
          </a:r>
        </a:p>
      </dgm:t>
    </dgm:pt>
    <dgm:pt modelId="{6CF0BDD8-62FB-40C3-B09C-529789866427}" type="parTrans" cxnId="{E5B5FEDC-92A7-4343-844E-9D9B92761CE1}">
      <dgm:prSet/>
      <dgm:spPr/>
      <dgm:t>
        <a:bodyPr/>
        <a:lstStyle/>
        <a:p>
          <a:endParaRPr lang="en-US"/>
        </a:p>
      </dgm:t>
    </dgm:pt>
    <dgm:pt modelId="{C20F9F6D-6846-473E-B883-7DD6CE86E539}" type="sibTrans" cxnId="{E5B5FEDC-92A7-4343-844E-9D9B92761CE1}">
      <dgm:prSet/>
      <dgm:spPr/>
      <dgm:t>
        <a:bodyPr/>
        <a:lstStyle/>
        <a:p>
          <a:endParaRPr lang="en-US"/>
        </a:p>
      </dgm:t>
    </dgm:pt>
    <dgm:pt modelId="{2127DE13-54A4-460C-B609-82E54CC182DA}" type="pres">
      <dgm:prSet presAssocID="{C1C89E8A-CD3E-408A-B077-8796C20BF656}" presName="root" presStyleCnt="0">
        <dgm:presLayoutVars>
          <dgm:dir/>
          <dgm:resizeHandles val="exact"/>
        </dgm:presLayoutVars>
      </dgm:prSet>
      <dgm:spPr/>
    </dgm:pt>
    <dgm:pt modelId="{7A34D5BB-AD63-4ED8-BE0E-1E3C691A16EC}" type="pres">
      <dgm:prSet presAssocID="{D81F13D2-BF14-474A-A9DA-60C0869FFB04}" presName="compNode" presStyleCnt="0"/>
      <dgm:spPr/>
    </dgm:pt>
    <dgm:pt modelId="{E3F3AAD1-ACED-4C23-B2C1-018819D28DF9}" type="pres">
      <dgm:prSet presAssocID="{D81F13D2-BF14-474A-A9DA-60C0869FFB04}" presName="bgRect" presStyleLbl="bgShp" presStyleIdx="0" presStyleCnt="4"/>
      <dgm:spPr/>
    </dgm:pt>
    <dgm:pt modelId="{376ECDF8-73C3-4D7F-8036-540C205CA9FA}" type="pres">
      <dgm:prSet presAssocID="{D81F13D2-BF14-474A-A9DA-60C0869FFB0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Earth Globe Europe-Africa"/>
        </a:ext>
      </dgm:extLst>
    </dgm:pt>
    <dgm:pt modelId="{7B1CD635-BE1E-4645-BEFA-60C3944845B5}" type="pres">
      <dgm:prSet presAssocID="{D81F13D2-BF14-474A-A9DA-60C0869FFB04}" presName="spaceRect" presStyleCnt="0"/>
      <dgm:spPr/>
    </dgm:pt>
    <dgm:pt modelId="{3E28B126-1C97-4E52-8919-7BC68737EB88}" type="pres">
      <dgm:prSet presAssocID="{D81F13D2-BF14-474A-A9DA-60C0869FFB04}" presName="parTx" presStyleLbl="revTx" presStyleIdx="0" presStyleCnt="4">
        <dgm:presLayoutVars>
          <dgm:chMax val="0"/>
          <dgm:chPref val="0"/>
        </dgm:presLayoutVars>
      </dgm:prSet>
      <dgm:spPr/>
    </dgm:pt>
    <dgm:pt modelId="{1A0B1FD4-8D38-4B23-805A-0D116798C5D2}" type="pres">
      <dgm:prSet presAssocID="{7F7B0405-8064-4B76-9942-06CAA1B4423C}" presName="sibTrans" presStyleCnt="0"/>
      <dgm:spPr/>
    </dgm:pt>
    <dgm:pt modelId="{8D075D0A-E204-46B6-91B9-BCD0E089A8B4}" type="pres">
      <dgm:prSet presAssocID="{1FEE4580-D4AD-440B-8C41-47E00E9DFEDC}" presName="compNode" presStyleCnt="0"/>
      <dgm:spPr/>
    </dgm:pt>
    <dgm:pt modelId="{C739C287-BE22-4842-A682-61A13F58A0E8}" type="pres">
      <dgm:prSet presAssocID="{1FEE4580-D4AD-440B-8C41-47E00E9DFEDC}" presName="bgRect" presStyleLbl="bgShp" presStyleIdx="1" presStyleCnt="4"/>
      <dgm:spPr/>
    </dgm:pt>
    <dgm:pt modelId="{5C50527B-CB9F-42B1-8D88-CC5B46339789}" type="pres">
      <dgm:prSet presAssocID="{1FEE4580-D4AD-440B-8C41-47E00E9DFED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lepsydra z przesypanym piaskiem"/>
        </a:ext>
      </dgm:extLst>
    </dgm:pt>
    <dgm:pt modelId="{49D37D5E-45B9-48EC-AD7B-6B712B21EEB5}" type="pres">
      <dgm:prSet presAssocID="{1FEE4580-D4AD-440B-8C41-47E00E9DFEDC}" presName="spaceRect" presStyleCnt="0"/>
      <dgm:spPr/>
    </dgm:pt>
    <dgm:pt modelId="{665F61D4-66F2-44AE-A0CE-61BDF3837A76}" type="pres">
      <dgm:prSet presAssocID="{1FEE4580-D4AD-440B-8C41-47E00E9DFEDC}" presName="parTx" presStyleLbl="revTx" presStyleIdx="1" presStyleCnt="4">
        <dgm:presLayoutVars>
          <dgm:chMax val="0"/>
          <dgm:chPref val="0"/>
        </dgm:presLayoutVars>
      </dgm:prSet>
      <dgm:spPr/>
    </dgm:pt>
    <dgm:pt modelId="{C1CEE351-50D3-4CA0-A296-9CFD443750B9}" type="pres">
      <dgm:prSet presAssocID="{101508AA-30B3-4837-9530-2653A4B4AF93}" presName="sibTrans" presStyleCnt="0"/>
      <dgm:spPr/>
    </dgm:pt>
    <dgm:pt modelId="{AFDF2A37-3690-4B24-A8C9-19951FF343F7}" type="pres">
      <dgm:prSet presAssocID="{081DF061-468D-4065-AA6C-C97F9A5FC0BB}" presName="compNode" presStyleCnt="0"/>
      <dgm:spPr/>
    </dgm:pt>
    <dgm:pt modelId="{DAA6D19A-FECE-42AC-A59F-AC3A2B5ADCEA}" type="pres">
      <dgm:prSet presAssocID="{081DF061-468D-4065-AA6C-C97F9A5FC0BB}" presName="bgRect" presStyleLbl="bgShp" presStyleIdx="2" presStyleCnt="4"/>
      <dgm:spPr/>
    </dgm:pt>
    <dgm:pt modelId="{0D24365E-C7A2-4FED-B6F1-B7C3C28DFB24}" type="pres">
      <dgm:prSet presAssocID="{081DF061-468D-4065-AA6C-C97F9A5FC0B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iatrak"/>
        </a:ext>
      </dgm:extLst>
    </dgm:pt>
    <dgm:pt modelId="{2DCEE4B6-E1D8-41CC-A3AA-FC2EECA99747}" type="pres">
      <dgm:prSet presAssocID="{081DF061-468D-4065-AA6C-C97F9A5FC0BB}" presName="spaceRect" presStyleCnt="0"/>
      <dgm:spPr/>
    </dgm:pt>
    <dgm:pt modelId="{A597A216-7768-4C9F-9FAF-4F1402627DA7}" type="pres">
      <dgm:prSet presAssocID="{081DF061-468D-4065-AA6C-C97F9A5FC0BB}" presName="parTx" presStyleLbl="revTx" presStyleIdx="2" presStyleCnt="4">
        <dgm:presLayoutVars>
          <dgm:chMax val="0"/>
          <dgm:chPref val="0"/>
        </dgm:presLayoutVars>
      </dgm:prSet>
      <dgm:spPr/>
    </dgm:pt>
    <dgm:pt modelId="{27AC4197-1F4F-4C9B-965F-F55C857F701A}" type="pres">
      <dgm:prSet presAssocID="{CAF5320B-63B1-450E-B018-C934F5A78084}" presName="sibTrans" presStyleCnt="0"/>
      <dgm:spPr/>
    </dgm:pt>
    <dgm:pt modelId="{A9A4585D-EF40-4752-A2DF-2A0B97E8C394}" type="pres">
      <dgm:prSet presAssocID="{C332F063-E13E-4341-990A-AD5C7FD6558D}" presName="compNode" presStyleCnt="0"/>
      <dgm:spPr/>
    </dgm:pt>
    <dgm:pt modelId="{5F3096FD-846E-4649-8FAE-4AFB94109BD3}" type="pres">
      <dgm:prSet presAssocID="{C332F063-E13E-4341-990A-AD5C7FD6558D}" presName="bgRect" presStyleLbl="bgShp" presStyleIdx="3" presStyleCnt="4"/>
      <dgm:spPr/>
    </dgm:pt>
    <dgm:pt modelId="{086882A4-BF50-4B24-AB33-EE5441E5D69A}" type="pres">
      <dgm:prSet presAssocID="{C332F063-E13E-4341-990A-AD5C7FD6558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lectric Car"/>
        </a:ext>
      </dgm:extLst>
    </dgm:pt>
    <dgm:pt modelId="{7310DB82-87C4-4167-987E-D33F5C17E718}" type="pres">
      <dgm:prSet presAssocID="{C332F063-E13E-4341-990A-AD5C7FD6558D}" presName="spaceRect" presStyleCnt="0"/>
      <dgm:spPr/>
    </dgm:pt>
    <dgm:pt modelId="{D87F4D93-8747-4281-86A1-DF4BDC219AEE}" type="pres">
      <dgm:prSet presAssocID="{C332F063-E13E-4341-990A-AD5C7FD6558D}" presName="parTx" presStyleLbl="revTx" presStyleIdx="3" presStyleCnt="4">
        <dgm:presLayoutVars>
          <dgm:chMax val="0"/>
          <dgm:chPref val="0"/>
        </dgm:presLayoutVars>
      </dgm:prSet>
      <dgm:spPr/>
    </dgm:pt>
  </dgm:ptLst>
  <dgm:cxnLst>
    <dgm:cxn modelId="{D0975F23-4E3C-4DFB-86AA-BF91D5CD22F4}" srcId="{C1C89E8A-CD3E-408A-B077-8796C20BF656}" destId="{081DF061-468D-4065-AA6C-C97F9A5FC0BB}" srcOrd="2" destOrd="0" parTransId="{73AB9D46-9EBA-470E-A050-C1BCEF5B5072}" sibTransId="{CAF5320B-63B1-450E-B018-C934F5A78084}"/>
    <dgm:cxn modelId="{DEA42B6C-44EB-4018-9D62-CDB7DEBB0A6C}" type="presOf" srcId="{C332F063-E13E-4341-990A-AD5C7FD6558D}" destId="{D87F4D93-8747-4281-86A1-DF4BDC219AEE}" srcOrd="0" destOrd="0" presId="urn:microsoft.com/office/officeart/2018/2/layout/IconVerticalSolidList"/>
    <dgm:cxn modelId="{526ADC53-3776-4ED8-B8D6-BBD93A547149}" type="presOf" srcId="{081DF061-468D-4065-AA6C-C97F9A5FC0BB}" destId="{A597A216-7768-4C9F-9FAF-4F1402627DA7}" srcOrd="0" destOrd="0" presId="urn:microsoft.com/office/officeart/2018/2/layout/IconVerticalSolidList"/>
    <dgm:cxn modelId="{E30EEF54-81BD-4658-A46F-BB37FB49C4DE}" type="presOf" srcId="{C1C89E8A-CD3E-408A-B077-8796C20BF656}" destId="{2127DE13-54A4-460C-B609-82E54CC182DA}" srcOrd="0" destOrd="0" presId="urn:microsoft.com/office/officeart/2018/2/layout/IconVerticalSolidList"/>
    <dgm:cxn modelId="{7A6F9DA3-8FE3-4579-A32F-50C98A21F4BA}" srcId="{C1C89E8A-CD3E-408A-B077-8796C20BF656}" destId="{1FEE4580-D4AD-440B-8C41-47E00E9DFEDC}" srcOrd="1" destOrd="0" parTransId="{2C32A123-5C45-4001-BD2D-79A705399DDC}" sibTransId="{101508AA-30B3-4837-9530-2653A4B4AF93}"/>
    <dgm:cxn modelId="{484661A7-B175-4FFB-8C7A-C6109810CE5D}" type="presOf" srcId="{D81F13D2-BF14-474A-A9DA-60C0869FFB04}" destId="{3E28B126-1C97-4E52-8919-7BC68737EB88}" srcOrd="0" destOrd="0" presId="urn:microsoft.com/office/officeart/2018/2/layout/IconVerticalSolidList"/>
    <dgm:cxn modelId="{6DEF52B6-832A-49FC-A818-69E6DE35E238}" srcId="{C1C89E8A-CD3E-408A-B077-8796C20BF656}" destId="{D81F13D2-BF14-474A-A9DA-60C0869FFB04}" srcOrd="0" destOrd="0" parTransId="{CBD4B8B1-508A-4DB3-8B64-CE67D0351D5D}" sibTransId="{7F7B0405-8064-4B76-9942-06CAA1B4423C}"/>
    <dgm:cxn modelId="{E5B5FEDC-92A7-4343-844E-9D9B92761CE1}" srcId="{C1C89E8A-CD3E-408A-B077-8796C20BF656}" destId="{C332F063-E13E-4341-990A-AD5C7FD6558D}" srcOrd="3" destOrd="0" parTransId="{6CF0BDD8-62FB-40C3-B09C-529789866427}" sibTransId="{C20F9F6D-6846-473E-B883-7DD6CE86E539}"/>
    <dgm:cxn modelId="{F590D2F1-104F-494B-BCF0-8D576A90B47D}" type="presOf" srcId="{1FEE4580-D4AD-440B-8C41-47E00E9DFEDC}" destId="{665F61D4-66F2-44AE-A0CE-61BDF3837A76}" srcOrd="0" destOrd="0" presId="urn:microsoft.com/office/officeart/2018/2/layout/IconVerticalSolidList"/>
    <dgm:cxn modelId="{117F8809-C021-450E-9C33-A2B93809311D}" type="presParOf" srcId="{2127DE13-54A4-460C-B609-82E54CC182DA}" destId="{7A34D5BB-AD63-4ED8-BE0E-1E3C691A16EC}" srcOrd="0" destOrd="0" presId="urn:microsoft.com/office/officeart/2018/2/layout/IconVerticalSolidList"/>
    <dgm:cxn modelId="{18892BC0-B208-4E52-B52D-B8DCA23AC422}" type="presParOf" srcId="{7A34D5BB-AD63-4ED8-BE0E-1E3C691A16EC}" destId="{E3F3AAD1-ACED-4C23-B2C1-018819D28DF9}" srcOrd="0" destOrd="0" presId="urn:microsoft.com/office/officeart/2018/2/layout/IconVerticalSolidList"/>
    <dgm:cxn modelId="{5362B1F1-E175-4D1D-ABB4-6F786F5D0DA4}" type="presParOf" srcId="{7A34D5BB-AD63-4ED8-BE0E-1E3C691A16EC}" destId="{376ECDF8-73C3-4D7F-8036-540C205CA9FA}" srcOrd="1" destOrd="0" presId="urn:microsoft.com/office/officeart/2018/2/layout/IconVerticalSolidList"/>
    <dgm:cxn modelId="{811F4834-1A50-41C2-B93F-7D92C19B7B09}" type="presParOf" srcId="{7A34D5BB-AD63-4ED8-BE0E-1E3C691A16EC}" destId="{7B1CD635-BE1E-4645-BEFA-60C3944845B5}" srcOrd="2" destOrd="0" presId="urn:microsoft.com/office/officeart/2018/2/layout/IconVerticalSolidList"/>
    <dgm:cxn modelId="{C38B803F-82EC-42EF-847F-1EC358775876}" type="presParOf" srcId="{7A34D5BB-AD63-4ED8-BE0E-1E3C691A16EC}" destId="{3E28B126-1C97-4E52-8919-7BC68737EB88}" srcOrd="3" destOrd="0" presId="urn:microsoft.com/office/officeart/2018/2/layout/IconVerticalSolidList"/>
    <dgm:cxn modelId="{C89F7128-D642-41EF-8BDD-69CAC54990FE}" type="presParOf" srcId="{2127DE13-54A4-460C-B609-82E54CC182DA}" destId="{1A0B1FD4-8D38-4B23-805A-0D116798C5D2}" srcOrd="1" destOrd="0" presId="urn:microsoft.com/office/officeart/2018/2/layout/IconVerticalSolidList"/>
    <dgm:cxn modelId="{ADE2851A-071E-475B-9D5B-CE6845BBC998}" type="presParOf" srcId="{2127DE13-54A4-460C-B609-82E54CC182DA}" destId="{8D075D0A-E204-46B6-91B9-BCD0E089A8B4}" srcOrd="2" destOrd="0" presId="urn:microsoft.com/office/officeart/2018/2/layout/IconVerticalSolidList"/>
    <dgm:cxn modelId="{6E6C2712-04C6-4671-B1FE-80D0FDF52BD3}" type="presParOf" srcId="{8D075D0A-E204-46B6-91B9-BCD0E089A8B4}" destId="{C739C287-BE22-4842-A682-61A13F58A0E8}" srcOrd="0" destOrd="0" presId="urn:microsoft.com/office/officeart/2018/2/layout/IconVerticalSolidList"/>
    <dgm:cxn modelId="{B470E8E9-6F12-45F4-B07E-629044C4F6F4}" type="presParOf" srcId="{8D075D0A-E204-46B6-91B9-BCD0E089A8B4}" destId="{5C50527B-CB9F-42B1-8D88-CC5B46339789}" srcOrd="1" destOrd="0" presId="urn:microsoft.com/office/officeart/2018/2/layout/IconVerticalSolidList"/>
    <dgm:cxn modelId="{09CA64A4-E674-474E-9F9F-2F5D967D0F45}" type="presParOf" srcId="{8D075D0A-E204-46B6-91B9-BCD0E089A8B4}" destId="{49D37D5E-45B9-48EC-AD7B-6B712B21EEB5}" srcOrd="2" destOrd="0" presId="urn:microsoft.com/office/officeart/2018/2/layout/IconVerticalSolidList"/>
    <dgm:cxn modelId="{8CC17907-E919-4952-B88D-44452DC9E5BC}" type="presParOf" srcId="{8D075D0A-E204-46B6-91B9-BCD0E089A8B4}" destId="{665F61D4-66F2-44AE-A0CE-61BDF3837A76}" srcOrd="3" destOrd="0" presId="urn:microsoft.com/office/officeart/2018/2/layout/IconVerticalSolidList"/>
    <dgm:cxn modelId="{F518E2A8-D22A-4931-ACEE-2FBCFF1A5F63}" type="presParOf" srcId="{2127DE13-54A4-460C-B609-82E54CC182DA}" destId="{C1CEE351-50D3-4CA0-A296-9CFD443750B9}" srcOrd="3" destOrd="0" presId="urn:microsoft.com/office/officeart/2018/2/layout/IconVerticalSolidList"/>
    <dgm:cxn modelId="{71A65967-B18F-4292-8E22-DAA432B37BCB}" type="presParOf" srcId="{2127DE13-54A4-460C-B609-82E54CC182DA}" destId="{AFDF2A37-3690-4B24-A8C9-19951FF343F7}" srcOrd="4" destOrd="0" presId="urn:microsoft.com/office/officeart/2018/2/layout/IconVerticalSolidList"/>
    <dgm:cxn modelId="{F6C006BE-154F-4E90-AA4B-B39CA362A1CE}" type="presParOf" srcId="{AFDF2A37-3690-4B24-A8C9-19951FF343F7}" destId="{DAA6D19A-FECE-42AC-A59F-AC3A2B5ADCEA}" srcOrd="0" destOrd="0" presId="urn:microsoft.com/office/officeart/2018/2/layout/IconVerticalSolidList"/>
    <dgm:cxn modelId="{01A634D4-AE8C-4F3E-8DDC-2DFA92E59D1A}" type="presParOf" srcId="{AFDF2A37-3690-4B24-A8C9-19951FF343F7}" destId="{0D24365E-C7A2-4FED-B6F1-B7C3C28DFB24}" srcOrd="1" destOrd="0" presId="urn:microsoft.com/office/officeart/2018/2/layout/IconVerticalSolidList"/>
    <dgm:cxn modelId="{9579DBDA-91C9-44E6-8CE2-9E62BFCD17A9}" type="presParOf" srcId="{AFDF2A37-3690-4B24-A8C9-19951FF343F7}" destId="{2DCEE4B6-E1D8-41CC-A3AA-FC2EECA99747}" srcOrd="2" destOrd="0" presId="urn:microsoft.com/office/officeart/2018/2/layout/IconVerticalSolidList"/>
    <dgm:cxn modelId="{44676B7E-1718-4E1F-B8CC-D3CB0412A57F}" type="presParOf" srcId="{AFDF2A37-3690-4B24-A8C9-19951FF343F7}" destId="{A597A216-7768-4C9F-9FAF-4F1402627DA7}" srcOrd="3" destOrd="0" presId="urn:microsoft.com/office/officeart/2018/2/layout/IconVerticalSolidList"/>
    <dgm:cxn modelId="{523C955A-DB20-42C8-9353-F70FC806B510}" type="presParOf" srcId="{2127DE13-54A4-460C-B609-82E54CC182DA}" destId="{27AC4197-1F4F-4C9B-965F-F55C857F701A}" srcOrd="5" destOrd="0" presId="urn:microsoft.com/office/officeart/2018/2/layout/IconVerticalSolidList"/>
    <dgm:cxn modelId="{AF16B0A4-F344-4A0D-8951-9A26835D020F}" type="presParOf" srcId="{2127DE13-54A4-460C-B609-82E54CC182DA}" destId="{A9A4585D-EF40-4752-A2DF-2A0B97E8C394}" srcOrd="6" destOrd="0" presId="urn:microsoft.com/office/officeart/2018/2/layout/IconVerticalSolidList"/>
    <dgm:cxn modelId="{C849493B-F294-4939-A773-FEBAA04A226F}" type="presParOf" srcId="{A9A4585D-EF40-4752-A2DF-2A0B97E8C394}" destId="{5F3096FD-846E-4649-8FAE-4AFB94109BD3}" srcOrd="0" destOrd="0" presId="urn:microsoft.com/office/officeart/2018/2/layout/IconVerticalSolidList"/>
    <dgm:cxn modelId="{012AC96A-C1E3-4148-8294-D061C7B8A052}" type="presParOf" srcId="{A9A4585D-EF40-4752-A2DF-2A0B97E8C394}" destId="{086882A4-BF50-4B24-AB33-EE5441E5D69A}" srcOrd="1" destOrd="0" presId="urn:microsoft.com/office/officeart/2018/2/layout/IconVerticalSolidList"/>
    <dgm:cxn modelId="{C4358DED-148F-4BF1-9F9A-F2FADC85E5A3}" type="presParOf" srcId="{A9A4585D-EF40-4752-A2DF-2A0B97E8C394}" destId="{7310DB82-87C4-4167-987E-D33F5C17E718}" srcOrd="2" destOrd="0" presId="urn:microsoft.com/office/officeart/2018/2/layout/IconVerticalSolidList"/>
    <dgm:cxn modelId="{BC721A23-D3C5-4090-8EDD-173CB408114B}" type="presParOf" srcId="{A9A4585D-EF40-4752-A2DF-2A0B97E8C394}" destId="{D87F4D93-8747-4281-86A1-DF4BDC219AEE}" srcOrd="3" destOrd="0" presId="urn:microsoft.com/office/officeart/2018/2/layout/IconVerticalSoli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56E10B-F1C1-4552-8FB1-08AB78E23982}" type="doc">
      <dgm:prSet loTypeId="urn:microsoft.com/office/officeart/2018/2/layout/IconCircle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A7BC211-B455-4FD0-9C84-6A3016044BE3}">
      <dgm:prSet custT="1"/>
      <dgm:spPr/>
      <dgm:t>
        <a:bodyPr/>
        <a:lstStyle/>
        <a:p>
          <a:pPr>
            <a:lnSpc>
              <a:spcPct val="100000"/>
            </a:lnSpc>
          </a:pPr>
          <a:r>
            <a:rPr lang="en-US" sz="2400" dirty="0">
              <a:latin typeface="Inter" panose="020B0604020202020204" charset="0"/>
              <a:ea typeface="Inter" panose="020B0604020202020204" charset="0"/>
            </a:rPr>
            <a:t>Cleaned and prepared the dataset</a:t>
          </a:r>
        </a:p>
      </dgm:t>
    </dgm:pt>
    <dgm:pt modelId="{DD273F9D-7F03-4D9A-B306-E34584EDF84F}" type="parTrans" cxnId="{3B8CFA77-63FA-4402-A46A-492E090DFC92}">
      <dgm:prSet/>
      <dgm:spPr/>
      <dgm:t>
        <a:bodyPr/>
        <a:lstStyle/>
        <a:p>
          <a:endParaRPr lang="en-US"/>
        </a:p>
      </dgm:t>
    </dgm:pt>
    <dgm:pt modelId="{D187DEA8-58C7-407F-AD00-6AE5D905B405}" type="sibTrans" cxnId="{3B8CFA77-63FA-4402-A46A-492E090DFC92}">
      <dgm:prSet/>
      <dgm:spPr/>
      <dgm:t>
        <a:bodyPr/>
        <a:lstStyle/>
        <a:p>
          <a:pPr>
            <a:lnSpc>
              <a:spcPct val="100000"/>
            </a:lnSpc>
          </a:pPr>
          <a:endParaRPr lang="en-US"/>
        </a:p>
      </dgm:t>
    </dgm:pt>
    <dgm:pt modelId="{738C6E45-54DF-4CA9-8E65-694C4ADB6077}">
      <dgm:prSet custT="1"/>
      <dgm:spPr/>
      <dgm:t>
        <a:bodyPr/>
        <a:lstStyle/>
        <a:p>
          <a:pPr>
            <a:lnSpc>
              <a:spcPct val="100000"/>
            </a:lnSpc>
          </a:pPr>
          <a:r>
            <a:rPr lang="en-US" sz="2400" dirty="0">
              <a:latin typeface="Inter" panose="020B0604020202020204" charset="0"/>
              <a:ea typeface="Inter" panose="020B0604020202020204" charset="0"/>
            </a:rPr>
            <a:t>Created prediction target (next-year emissions)</a:t>
          </a:r>
        </a:p>
      </dgm:t>
    </dgm:pt>
    <dgm:pt modelId="{1D2728FD-50AE-4496-A164-0CABB3A39C9D}" type="parTrans" cxnId="{EDC1F9D2-A8BF-474D-A3DF-C8BFA43DB0E6}">
      <dgm:prSet/>
      <dgm:spPr/>
      <dgm:t>
        <a:bodyPr/>
        <a:lstStyle/>
        <a:p>
          <a:endParaRPr lang="en-US"/>
        </a:p>
      </dgm:t>
    </dgm:pt>
    <dgm:pt modelId="{86FF957B-E6F2-4CCC-851B-1146F954F9D2}" type="sibTrans" cxnId="{EDC1F9D2-A8BF-474D-A3DF-C8BFA43DB0E6}">
      <dgm:prSet/>
      <dgm:spPr/>
      <dgm:t>
        <a:bodyPr/>
        <a:lstStyle/>
        <a:p>
          <a:pPr>
            <a:lnSpc>
              <a:spcPct val="100000"/>
            </a:lnSpc>
          </a:pPr>
          <a:endParaRPr lang="en-US"/>
        </a:p>
      </dgm:t>
    </dgm:pt>
    <dgm:pt modelId="{0C6CD0EA-CA05-47E4-B0F1-C072FA1582CB}">
      <dgm:prSet custT="1"/>
      <dgm:spPr/>
      <dgm:t>
        <a:bodyPr/>
        <a:lstStyle/>
        <a:p>
          <a:pPr>
            <a:lnSpc>
              <a:spcPct val="100000"/>
            </a:lnSpc>
          </a:pPr>
          <a:r>
            <a:rPr lang="en-US" sz="2400" dirty="0">
              <a:latin typeface="Inter" panose="020B0604020202020204" charset="0"/>
              <a:ea typeface="Inter" panose="020B0604020202020204" charset="0"/>
            </a:rPr>
            <a:t>Split data into training and testing sets</a:t>
          </a:r>
        </a:p>
      </dgm:t>
    </dgm:pt>
    <dgm:pt modelId="{17BB1179-DEE1-4062-A1F0-2C5FA75F09DF}" type="parTrans" cxnId="{5D1FE6B0-582B-40D3-B806-270CE055692D}">
      <dgm:prSet/>
      <dgm:spPr/>
      <dgm:t>
        <a:bodyPr/>
        <a:lstStyle/>
        <a:p>
          <a:endParaRPr lang="en-US"/>
        </a:p>
      </dgm:t>
    </dgm:pt>
    <dgm:pt modelId="{26002ACE-EC59-448C-BB91-C6CCC2D35A24}" type="sibTrans" cxnId="{5D1FE6B0-582B-40D3-B806-270CE055692D}">
      <dgm:prSet/>
      <dgm:spPr/>
      <dgm:t>
        <a:bodyPr/>
        <a:lstStyle/>
        <a:p>
          <a:pPr>
            <a:lnSpc>
              <a:spcPct val="100000"/>
            </a:lnSpc>
          </a:pPr>
          <a:endParaRPr lang="en-US"/>
        </a:p>
      </dgm:t>
    </dgm:pt>
    <dgm:pt modelId="{519389FD-53BE-442F-8E7C-B1CDEA19504B}">
      <dgm:prSet custT="1"/>
      <dgm:spPr/>
      <dgm:t>
        <a:bodyPr/>
        <a:lstStyle/>
        <a:p>
          <a:pPr>
            <a:lnSpc>
              <a:spcPct val="100000"/>
            </a:lnSpc>
          </a:pPr>
          <a:r>
            <a:rPr lang="en-US" sz="2400" dirty="0">
              <a:latin typeface="Inter" panose="020B0604020202020204" charset="0"/>
              <a:ea typeface="Inter" panose="020B0604020202020204" charset="0"/>
            </a:rPr>
            <a:t>Trained a Random Forest model</a:t>
          </a:r>
        </a:p>
      </dgm:t>
    </dgm:pt>
    <dgm:pt modelId="{0130BAED-2B63-4D6D-8B22-465C87CC1E92}" type="parTrans" cxnId="{842EE0FD-FFC6-4E1C-B1C9-6B4EEBE38B88}">
      <dgm:prSet/>
      <dgm:spPr/>
      <dgm:t>
        <a:bodyPr/>
        <a:lstStyle/>
        <a:p>
          <a:endParaRPr lang="en-US"/>
        </a:p>
      </dgm:t>
    </dgm:pt>
    <dgm:pt modelId="{79E30604-E174-4196-AF2B-8355AB5D4991}" type="sibTrans" cxnId="{842EE0FD-FFC6-4E1C-B1C9-6B4EEBE38B88}">
      <dgm:prSet/>
      <dgm:spPr/>
      <dgm:t>
        <a:bodyPr/>
        <a:lstStyle/>
        <a:p>
          <a:pPr>
            <a:lnSpc>
              <a:spcPct val="100000"/>
            </a:lnSpc>
          </a:pPr>
          <a:endParaRPr lang="en-US"/>
        </a:p>
      </dgm:t>
    </dgm:pt>
    <dgm:pt modelId="{36EC3896-8383-4FE8-B57A-AE24E397B484}">
      <dgm:prSet custT="1"/>
      <dgm:spPr/>
      <dgm:t>
        <a:bodyPr/>
        <a:lstStyle/>
        <a:p>
          <a:pPr>
            <a:lnSpc>
              <a:spcPct val="100000"/>
            </a:lnSpc>
          </a:pPr>
          <a:r>
            <a:rPr lang="en-US" sz="2400" dirty="0">
              <a:latin typeface="Inter" panose="020B0604020202020204" charset="0"/>
              <a:ea typeface="Inter" panose="020B0604020202020204" charset="0"/>
            </a:rPr>
            <a:t>Evaluated performance using multiple metrics</a:t>
          </a:r>
        </a:p>
      </dgm:t>
    </dgm:pt>
    <dgm:pt modelId="{1F36F140-8BD5-49EF-A33E-A1B996DA788C}" type="parTrans" cxnId="{358C2F6C-8E39-4AEB-9112-25995CC22EF9}">
      <dgm:prSet/>
      <dgm:spPr/>
      <dgm:t>
        <a:bodyPr/>
        <a:lstStyle/>
        <a:p>
          <a:endParaRPr lang="en-US"/>
        </a:p>
      </dgm:t>
    </dgm:pt>
    <dgm:pt modelId="{C36598D4-803A-461E-A712-03A88038BAD0}" type="sibTrans" cxnId="{358C2F6C-8E39-4AEB-9112-25995CC22EF9}">
      <dgm:prSet/>
      <dgm:spPr/>
      <dgm:t>
        <a:bodyPr/>
        <a:lstStyle/>
        <a:p>
          <a:endParaRPr lang="en-US"/>
        </a:p>
      </dgm:t>
    </dgm:pt>
    <dgm:pt modelId="{B87D0C2F-21D1-480E-A63D-235EF956AC74}" type="pres">
      <dgm:prSet presAssocID="{EE56E10B-F1C1-4552-8FB1-08AB78E23982}" presName="root" presStyleCnt="0">
        <dgm:presLayoutVars>
          <dgm:dir/>
          <dgm:resizeHandles val="exact"/>
        </dgm:presLayoutVars>
      </dgm:prSet>
      <dgm:spPr/>
    </dgm:pt>
    <dgm:pt modelId="{F68A2DEF-FE62-4F47-A6E9-66EC292B559E}" type="pres">
      <dgm:prSet presAssocID="{EE56E10B-F1C1-4552-8FB1-08AB78E23982}" presName="container" presStyleCnt="0">
        <dgm:presLayoutVars>
          <dgm:dir/>
          <dgm:resizeHandles val="exact"/>
        </dgm:presLayoutVars>
      </dgm:prSet>
      <dgm:spPr/>
    </dgm:pt>
    <dgm:pt modelId="{885DF286-D5C1-4531-980D-4D95860D1C12}" type="pres">
      <dgm:prSet presAssocID="{AA7BC211-B455-4FD0-9C84-6A3016044BE3}" presName="compNode" presStyleCnt="0"/>
      <dgm:spPr/>
    </dgm:pt>
    <dgm:pt modelId="{8514FE6F-119B-49E3-896C-4826BBA75923}" type="pres">
      <dgm:prSet presAssocID="{AA7BC211-B455-4FD0-9C84-6A3016044BE3}" presName="iconBgRect" presStyleLbl="bgShp" presStyleIdx="0" presStyleCnt="5"/>
      <dgm:spPr/>
    </dgm:pt>
    <dgm:pt modelId="{1DE259D4-6491-4C33-95E2-06639BBAF700}" type="pres">
      <dgm:prSet presAssocID="{AA7BC211-B455-4FD0-9C84-6A3016044BE3}"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op and bucket"/>
        </a:ext>
      </dgm:extLst>
    </dgm:pt>
    <dgm:pt modelId="{E81B25A3-CCF6-4EDB-B565-A621130957F8}" type="pres">
      <dgm:prSet presAssocID="{AA7BC211-B455-4FD0-9C84-6A3016044BE3}" presName="spaceRect" presStyleCnt="0"/>
      <dgm:spPr/>
    </dgm:pt>
    <dgm:pt modelId="{A2BFD9DD-446F-4132-A648-BE9FFCB86302}" type="pres">
      <dgm:prSet presAssocID="{AA7BC211-B455-4FD0-9C84-6A3016044BE3}" presName="textRect" presStyleLbl="revTx" presStyleIdx="0" presStyleCnt="5">
        <dgm:presLayoutVars>
          <dgm:chMax val="1"/>
          <dgm:chPref val="1"/>
        </dgm:presLayoutVars>
      </dgm:prSet>
      <dgm:spPr/>
    </dgm:pt>
    <dgm:pt modelId="{C62269E5-0939-474E-9806-70C4F6C8F0B9}" type="pres">
      <dgm:prSet presAssocID="{D187DEA8-58C7-407F-AD00-6AE5D905B405}" presName="sibTrans" presStyleLbl="sibTrans2D1" presStyleIdx="0" presStyleCnt="0"/>
      <dgm:spPr/>
    </dgm:pt>
    <dgm:pt modelId="{30B93FC0-7EA2-4366-A282-9FFAC34CF9CF}" type="pres">
      <dgm:prSet presAssocID="{738C6E45-54DF-4CA9-8E65-694C4ADB6077}" presName="compNode" presStyleCnt="0"/>
      <dgm:spPr/>
    </dgm:pt>
    <dgm:pt modelId="{F3DC664B-6A40-46F3-BA49-54EFAB0E3AED}" type="pres">
      <dgm:prSet presAssocID="{738C6E45-54DF-4CA9-8E65-694C4ADB6077}" presName="iconBgRect" presStyleLbl="bgShp" presStyleIdx="1" presStyleCnt="5"/>
      <dgm:spPr/>
    </dgm:pt>
    <dgm:pt modelId="{978F2457-F03E-4C1F-9BB2-83E7B89F2DB1}" type="pres">
      <dgm:prSet presAssocID="{738C6E45-54DF-4CA9-8E65-694C4ADB6077}"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nset scene"/>
        </a:ext>
      </dgm:extLst>
    </dgm:pt>
    <dgm:pt modelId="{13E9AA81-EE44-4A15-A5EA-A267A28B89CC}" type="pres">
      <dgm:prSet presAssocID="{738C6E45-54DF-4CA9-8E65-694C4ADB6077}" presName="spaceRect" presStyleCnt="0"/>
      <dgm:spPr/>
    </dgm:pt>
    <dgm:pt modelId="{5704AD5A-B4CC-4F61-877E-B3632E0B8970}" type="pres">
      <dgm:prSet presAssocID="{738C6E45-54DF-4CA9-8E65-694C4ADB6077}" presName="textRect" presStyleLbl="revTx" presStyleIdx="1" presStyleCnt="5">
        <dgm:presLayoutVars>
          <dgm:chMax val="1"/>
          <dgm:chPref val="1"/>
        </dgm:presLayoutVars>
      </dgm:prSet>
      <dgm:spPr/>
    </dgm:pt>
    <dgm:pt modelId="{BCB08D54-94DF-4271-8937-991FFAC69B14}" type="pres">
      <dgm:prSet presAssocID="{86FF957B-E6F2-4CCC-851B-1146F954F9D2}" presName="sibTrans" presStyleLbl="sibTrans2D1" presStyleIdx="0" presStyleCnt="0"/>
      <dgm:spPr/>
    </dgm:pt>
    <dgm:pt modelId="{52ED67D5-35EB-4F9D-BD56-86DA575C1592}" type="pres">
      <dgm:prSet presAssocID="{0C6CD0EA-CA05-47E4-B0F1-C072FA1582CB}" presName="compNode" presStyleCnt="0"/>
      <dgm:spPr/>
    </dgm:pt>
    <dgm:pt modelId="{66D62EFF-6A36-4876-B8C2-27AD140E1A8F}" type="pres">
      <dgm:prSet presAssocID="{0C6CD0EA-CA05-47E4-B0F1-C072FA1582CB}" presName="iconBgRect" presStyleLbl="bgShp" presStyleIdx="2" presStyleCnt="5"/>
      <dgm:spPr/>
    </dgm:pt>
    <dgm:pt modelId="{489003D9-2DBC-4486-8F30-D0153E4237AE}" type="pres">
      <dgm:prSet presAssocID="{0C6CD0EA-CA05-47E4-B0F1-C072FA1582C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D41BF446-5912-41B9-B066-0B1F9CC4B087}" type="pres">
      <dgm:prSet presAssocID="{0C6CD0EA-CA05-47E4-B0F1-C072FA1582CB}" presName="spaceRect" presStyleCnt="0"/>
      <dgm:spPr/>
    </dgm:pt>
    <dgm:pt modelId="{64723722-7A0F-4CB2-9A52-9A9E42694E69}" type="pres">
      <dgm:prSet presAssocID="{0C6CD0EA-CA05-47E4-B0F1-C072FA1582CB}" presName="textRect" presStyleLbl="revTx" presStyleIdx="2" presStyleCnt="5">
        <dgm:presLayoutVars>
          <dgm:chMax val="1"/>
          <dgm:chPref val="1"/>
        </dgm:presLayoutVars>
      </dgm:prSet>
      <dgm:spPr/>
    </dgm:pt>
    <dgm:pt modelId="{A38C1BE6-88B1-4B9F-9024-6C2D91DCC020}" type="pres">
      <dgm:prSet presAssocID="{26002ACE-EC59-448C-BB91-C6CCC2D35A24}" presName="sibTrans" presStyleLbl="sibTrans2D1" presStyleIdx="0" presStyleCnt="0"/>
      <dgm:spPr/>
    </dgm:pt>
    <dgm:pt modelId="{BCB29EBB-F6FF-441A-A571-3EE5001EC069}" type="pres">
      <dgm:prSet presAssocID="{519389FD-53BE-442F-8E7C-B1CDEA19504B}" presName="compNode" presStyleCnt="0"/>
      <dgm:spPr/>
    </dgm:pt>
    <dgm:pt modelId="{8E712062-F9F7-42FE-895A-90373376B7CC}" type="pres">
      <dgm:prSet presAssocID="{519389FD-53BE-442F-8E7C-B1CDEA19504B}" presName="iconBgRect" presStyleLbl="bgShp" presStyleIdx="3" presStyleCnt="5" custLinFactNeighborX="26"/>
      <dgm:spPr/>
    </dgm:pt>
    <dgm:pt modelId="{4B9E9D16-B34C-4C16-AE73-0EC5AC105AC3}" type="pres">
      <dgm:prSet presAssocID="{519389FD-53BE-442F-8E7C-B1CDEA19504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ciduous tree"/>
        </a:ext>
      </dgm:extLst>
    </dgm:pt>
    <dgm:pt modelId="{42913446-9AE6-4AC5-92D7-3052B10CAE3C}" type="pres">
      <dgm:prSet presAssocID="{519389FD-53BE-442F-8E7C-B1CDEA19504B}" presName="spaceRect" presStyleCnt="0"/>
      <dgm:spPr/>
    </dgm:pt>
    <dgm:pt modelId="{2C6DF44A-1FD7-4D08-9052-8AB6A2FA39D5}" type="pres">
      <dgm:prSet presAssocID="{519389FD-53BE-442F-8E7C-B1CDEA19504B}" presName="textRect" presStyleLbl="revTx" presStyleIdx="3" presStyleCnt="5">
        <dgm:presLayoutVars>
          <dgm:chMax val="1"/>
          <dgm:chPref val="1"/>
        </dgm:presLayoutVars>
      </dgm:prSet>
      <dgm:spPr/>
    </dgm:pt>
    <dgm:pt modelId="{F1433355-B6DC-42D0-935E-59951D725D78}" type="pres">
      <dgm:prSet presAssocID="{79E30604-E174-4196-AF2B-8355AB5D4991}" presName="sibTrans" presStyleLbl="sibTrans2D1" presStyleIdx="0" presStyleCnt="0"/>
      <dgm:spPr/>
    </dgm:pt>
    <dgm:pt modelId="{5B72EE47-16EC-475D-8021-56D95F1B3BC4}" type="pres">
      <dgm:prSet presAssocID="{36EC3896-8383-4FE8-B57A-AE24E397B484}" presName="compNode" presStyleCnt="0"/>
      <dgm:spPr/>
    </dgm:pt>
    <dgm:pt modelId="{963B30D1-9C9E-4043-B8F8-A92595117D7C}" type="pres">
      <dgm:prSet presAssocID="{36EC3896-8383-4FE8-B57A-AE24E397B484}" presName="iconBgRect" presStyleLbl="bgShp" presStyleIdx="4" presStyleCnt="5"/>
      <dgm:spPr/>
    </dgm:pt>
    <dgm:pt modelId="{518CAE98-52EC-4467-852D-14723727B399}" type="pres">
      <dgm:prSet presAssocID="{36EC3896-8383-4FE8-B57A-AE24E397B48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Upward trend"/>
        </a:ext>
      </dgm:extLst>
    </dgm:pt>
    <dgm:pt modelId="{A6D6D77B-59C5-456A-A81C-4679D3E0120B}" type="pres">
      <dgm:prSet presAssocID="{36EC3896-8383-4FE8-B57A-AE24E397B484}" presName="spaceRect" presStyleCnt="0"/>
      <dgm:spPr/>
    </dgm:pt>
    <dgm:pt modelId="{D0C737A2-6C0D-4785-88F5-13D1EE4A02CC}" type="pres">
      <dgm:prSet presAssocID="{36EC3896-8383-4FE8-B57A-AE24E397B484}" presName="textRect" presStyleLbl="revTx" presStyleIdx="4" presStyleCnt="5">
        <dgm:presLayoutVars>
          <dgm:chMax val="1"/>
          <dgm:chPref val="1"/>
        </dgm:presLayoutVars>
      </dgm:prSet>
      <dgm:spPr/>
    </dgm:pt>
  </dgm:ptLst>
  <dgm:cxnLst>
    <dgm:cxn modelId="{598DFB05-A6B6-40C5-875D-32C54896A8FC}" type="presOf" srcId="{738C6E45-54DF-4CA9-8E65-694C4ADB6077}" destId="{5704AD5A-B4CC-4F61-877E-B3632E0B8970}" srcOrd="0" destOrd="0" presId="urn:microsoft.com/office/officeart/2018/2/layout/IconCircleList"/>
    <dgm:cxn modelId="{B87BFE13-A550-466D-B939-77B2436B265E}" type="presOf" srcId="{D187DEA8-58C7-407F-AD00-6AE5D905B405}" destId="{C62269E5-0939-474E-9806-70C4F6C8F0B9}" srcOrd="0" destOrd="0" presId="urn:microsoft.com/office/officeart/2018/2/layout/IconCircleList"/>
    <dgm:cxn modelId="{8E6B222F-4E4F-4FBC-894B-1A43475C9CD9}" type="presOf" srcId="{79E30604-E174-4196-AF2B-8355AB5D4991}" destId="{F1433355-B6DC-42D0-935E-59951D725D78}" srcOrd="0" destOrd="0" presId="urn:microsoft.com/office/officeart/2018/2/layout/IconCircleList"/>
    <dgm:cxn modelId="{5E2D1135-46FD-4C1B-B6D7-18046565F123}" type="presOf" srcId="{36EC3896-8383-4FE8-B57A-AE24E397B484}" destId="{D0C737A2-6C0D-4785-88F5-13D1EE4A02CC}" srcOrd="0" destOrd="0" presId="urn:microsoft.com/office/officeart/2018/2/layout/IconCircleList"/>
    <dgm:cxn modelId="{A1B45F62-B451-44B4-94D6-9A55DFB6B52E}" type="presOf" srcId="{EE56E10B-F1C1-4552-8FB1-08AB78E23982}" destId="{B87D0C2F-21D1-480E-A63D-235EF956AC74}" srcOrd="0" destOrd="0" presId="urn:microsoft.com/office/officeart/2018/2/layout/IconCircleList"/>
    <dgm:cxn modelId="{A45BB062-1FFE-4A25-9CB7-F8B136371310}" type="presOf" srcId="{AA7BC211-B455-4FD0-9C84-6A3016044BE3}" destId="{A2BFD9DD-446F-4132-A648-BE9FFCB86302}" srcOrd="0" destOrd="0" presId="urn:microsoft.com/office/officeart/2018/2/layout/IconCircleList"/>
    <dgm:cxn modelId="{358C2F6C-8E39-4AEB-9112-25995CC22EF9}" srcId="{EE56E10B-F1C1-4552-8FB1-08AB78E23982}" destId="{36EC3896-8383-4FE8-B57A-AE24E397B484}" srcOrd="4" destOrd="0" parTransId="{1F36F140-8BD5-49EF-A33E-A1B996DA788C}" sibTransId="{C36598D4-803A-461E-A712-03A88038BAD0}"/>
    <dgm:cxn modelId="{0D04C556-260B-4837-8A23-690EA01FCBCE}" type="presOf" srcId="{86FF957B-E6F2-4CCC-851B-1146F954F9D2}" destId="{BCB08D54-94DF-4271-8937-991FFAC69B14}" srcOrd="0" destOrd="0" presId="urn:microsoft.com/office/officeart/2018/2/layout/IconCircleList"/>
    <dgm:cxn modelId="{3B8CFA77-63FA-4402-A46A-492E090DFC92}" srcId="{EE56E10B-F1C1-4552-8FB1-08AB78E23982}" destId="{AA7BC211-B455-4FD0-9C84-6A3016044BE3}" srcOrd="0" destOrd="0" parTransId="{DD273F9D-7F03-4D9A-B306-E34584EDF84F}" sibTransId="{D187DEA8-58C7-407F-AD00-6AE5D905B405}"/>
    <dgm:cxn modelId="{6250DC8F-C368-427B-AD49-90B72C9D4527}" type="presOf" srcId="{519389FD-53BE-442F-8E7C-B1CDEA19504B}" destId="{2C6DF44A-1FD7-4D08-9052-8AB6A2FA39D5}" srcOrd="0" destOrd="0" presId="urn:microsoft.com/office/officeart/2018/2/layout/IconCircleList"/>
    <dgm:cxn modelId="{5D1FE6B0-582B-40D3-B806-270CE055692D}" srcId="{EE56E10B-F1C1-4552-8FB1-08AB78E23982}" destId="{0C6CD0EA-CA05-47E4-B0F1-C072FA1582CB}" srcOrd="2" destOrd="0" parTransId="{17BB1179-DEE1-4062-A1F0-2C5FA75F09DF}" sibTransId="{26002ACE-EC59-448C-BB91-C6CCC2D35A24}"/>
    <dgm:cxn modelId="{38D98BBA-5824-420E-AE69-F5A46DD5C720}" type="presOf" srcId="{26002ACE-EC59-448C-BB91-C6CCC2D35A24}" destId="{A38C1BE6-88B1-4B9F-9024-6C2D91DCC020}" srcOrd="0" destOrd="0" presId="urn:microsoft.com/office/officeart/2018/2/layout/IconCircleList"/>
    <dgm:cxn modelId="{7F980CC1-30A3-431F-99D8-E7318251ECCA}" type="presOf" srcId="{0C6CD0EA-CA05-47E4-B0F1-C072FA1582CB}" destId="{64723722-7A0F-4CB2-9A52-9A9E42694E69}" srcOrd="0" destOrd="0" presId="urn:microsoft.com/office/officeart/2018/2/layout/IconCircleList"/>
    <dgm:cxn modelId="{EDC1F9D2-A8BF-474D-A3DF-C8BFA43DB0E6}" srcId="{EE56E10B-F1C1-4552-8FB1-08AB78E23982}" destId="{738C6E45-54DF-4CA9-8E65-694C4ADB6077}" srcOrd="1" destOrd="0" parTransId="{1D2728FD-50AE-4496-A164-0CABB3A39C9D}" sibTransId="{86FF957B-E6F2-4CCC-851B-1146F954F9D2}"/>
    <dgm:cxn modelId="{842EE0FD-FFC6-4E1C-B1C9-6B4EEBE38B88}" srcId="{EE56E10B-F1C1-4552-8FB1-08AB78E23982}" destId="{519389FD-53BE-442F-8E7C-B1CDEA19504B}" srcOrd="3" destOrd="0" parTransId="{0130BAED-2B63-4D6D-8B22-465C87CC1E92}" sibTransId="{79E30604-E174-4196-AF2B-8355AB5D4991}"/>
    <dgm:cxn modelId="{997E6091-4DC0-476D-B6BD-3AE6452907A9}" type="presParOf" srcId="{B87D0C2F-21D1-480E-A63D-235EF956AC74}" destId="{F68A2DEF-FE62-4F47-A6E9-66EC292B559E}" srcOrd="0" destOrd="0" presId="urn:microsoft.com/office/officeart/2018/2/layout/IconCircleList"/>
    <dgm:cxn modelId="{2B56E07F-3B70-416E-914B-46E52112C945}" type="presParOf" srcId="{F68A2DEF-FE62-4F47-A6E9-66EC292B559E}" destId="{885DF286-D5C1-4531-980D-4D95860D1C12}" srcOrd="0" destOrd="0" presId="urn:microsoft.com/office/officeart/2018/2/layout/IconCircleList"/>
    <dgm:cxn modelId="{9DA63004-5F49-4CFA-83A5-C6D6D9741121}" type="presParOf" srcId="{885DF286-D5C1-4531-980D-4D95860D1C12}" destId="{8514FE6F-119B-49E3-896C-4826BBA75923}" srcOrd="0" destOrd="0" presId="urn:microsoft.com/office/officeart/2018/2/layout/IconCircleList"/>
    <dgm:cxn modelId="{D825693B-BE45-49A7-B2D9-A8E789AE0D88}" type="presParOf" srcId="{885DF286-D5C1-4531-980D-4D95860D1C12}" destId="{1DE259D4-6491-4C33-95E2-06639BBAF700}" srcOrd="1" destOrd="0" presId="urn:microsoft.com/office/officeart/2018/2/layout/IconCircleList"/>
    <dgm:cxn modelId="{06056AD4-F786-4FF2-AFCC-2DD3CAB608A1}" type="presParOf" srcId="{885DF286-D5C1-4531-980D-4D95860D1C12}" destId="{E81B25A3-CCF6-4EDB-B565-A621130957F8}" srcOrd="2" destOrd="0" presId="urn:microsoft.com/office/officeart/2018/2/layout/IconCircleList"/>
    <dgm:cxn modelId="{2367F4CF-82BE-4F74-AF3E-498DFA08305F}" type="presParOf" srcId="{885DF286-D5C1-4531-980D-4D95860D1C12}" destId="{A2BFD9DD-446F-4132-A648-BE9FFCB86302}" srcOrd="3" destOrd="0" presId="urn:microsoft.com/office/officeart/2018/2/layout/IconCircleList"/>
    <dgm:cxn modelId="{C965E870-3D19-4DEE-B1C7-9D573AE5331E}" type="presParOf" srcId="{F68A2DEF-FE62-4F47-A6E9-66EC292B559E}" destId="{C62269E5-0939-474E-9806-70C4F6C8F0B9}" srcOrd="1" destOrd="0" presId="urn:microsoft.com/office/officeart/2018/2/layout/IconCircleList"/>
    <dgm:cxn modelId="{AC41489A-1766-4D7C-8E3C-8CFCEEFCDD48}" type="presParOf" srcId="{F68A2DEF-FE62-4F47-A6E9-66EC292B559E}" destId="{30B93FC0-7EA2-4366-A282-9FFAC34CF9CF}" srcOrd="2" destOrd="0" presId="urn:microsoft.com/office/officeart/2018/2/layout/IconCircleList"/>
    <dgm:cxn modelId="{47A3FDE7-3DA1-4459-8233-666EB58AED7B}" type="presParOf" srcId="{30B93FC0-7EA2-4366-A282-9FFAC34CF9CF}" destId="{F3DC664B-6A40-46F3-BA49-54EFAB0E3AED}" srcOrd="0" destOrd="0" presId="urn:microsoft.com/office/officeart/2018/2/layout/IconCircleList"/>
    <dgm:cxn modelId="{E2204153-CF25-4470-81B4-E472C8BE8B40}" type="presParOf" srcId="{30B93FC0-7EA2-4366-A282-9FFAC34CF9CF}" destId="{978F2457-F03E-4C1F-9BB2-83E7B89F2DB1}" srcOrd="1" destOrd="0" presId="urn:microsoft.com/office/officeart/2018/2/layout/IconCircleList"/>
    <dgm:cxn modelId="{F05D9743-47CC-4A50-93F6-5350D937C47F}" type="presParOf" srcId="{30B93FC0-7EA2-4366-A282-9FFAC34CF9CF}" destId="{13E9AA81-EE44-4A15-A5EA-A267A28B89CC}" srcOrd="2" destOrd="0" presId="urn:microsoft.com/office/officeart/2018/2/layout/IconCircleList"/>
    <dgm:cxn modelId="{5A6F26ED-4E81-4E41-9E59-92CE7B80E031}" type="presParOf" srcId="{30B93FC0-7EA2-4366-A282-9FFAC34CF9CF}" destId="{5704AD5A-B4CC-4F61-877E-B3632E0B8970}" srcOrd="3" destOrd="0" presId="urn:microsoft.com/office/officeart/2018/2/layout/IconCircleList"/>
    <dgm:cxn modelId="{0A126E30-E70A-4A42-807D-D6A5FC9F89E0}" type="presParOf" srcId="{F68A2DEF-FE62-4F47-A6E9-66EC292B559E}" destId="{BCB08D54-94DF-4271-8937-991FFAC69B14}" srcOrd="3" destOrd="0" presId="urn:microsoft.com/office/officeart/2018/2/layout/IconCircleList"/>
    <dgm:cxn modelId="{5AE1C667-992D-4439-BF75-02661BDE83ED}" type="presParOf" srcId="{F68A2DEF-FE62-4F47-A6E9-66EC292B559E}" destId="{52ED67D5-35EB-4F9D-BD56-86DA575C1592}" srcOrd="4" destOrd="0" presId="urn:microsoft.com/office/officeart/2018/2/layout/IconCircleList"/>
    <dgm:cxn modelId="{8255054A-641D-486B-BF29-EB492A101785}" type="presParOf" srcId="{52ED67D5-35EB-4F9D-BD56-86DA575C1592}" destId="{66D62EFF-6A36-4876-B8C2-27AD140E1A8F}" srcOrd="0" destOrd="0" presId="urn:microsoft.com/office/officeart/2018/2/layout/IconCircleList"/>
    <dgm:cxn modelId="{7A8928DD-328C-4C1F-BC2E-6B646EABE22A}" type="presParOf" srcId="{52ED67D5-35EB-4F9D-BD56-86DA575C1592}" destId="{489003D9-2DBC-4486-8F30-D0153E4237AE}" srcOrd="1" destOrd="0" presId="urn:microsoft.com/office/officeart/2018/2/layout/IconCircleList"/>
    <dgm:cxn modelId="{246B2113-9A61-4DAE-9201-9103D11CBCC9}" type="presParOf" srcId="{52ED67D5-35EB-4F9D-BD56-86DA575C1592}" destId="{D41BF446-5912-41B9-B066-0B1F9CC4B087}" srcOrd="2" destOrd="0" presId="urn:microsoft.com/office/officeart/2018/2/layout/IconCircleList"/>
    <dgm:cxn modelId="{093019BF-E49D-466D-9077-B96412D8F706}" type="presParOf" srcId="{52ED67D5-35EB-4F9D-BD56-86DA575C1592}" destId="{64723722-7A0F-4CB2-9A52-9A9E42694E69}" srcOrd="3" destOrd="0" presId="urn:microsoft.com/office/officeart/2018/2/layout/IconCircleList"/>
    <dgm:cxn modelId="{A44A4907-B828-4CC3-B560-36EFE2459800}" type="presParOf" srcId="{F68A2DEF-FE62-4F47-A6E9-66EC292B559E}" destId="{A38C1BE6-88B1-4B9F-9024-6C2D91DCC020}" srcOrd="5" destOrd="0" presId="urn:microsoft.com/office/officeart/2018/2/layout/IconCircleList"/>
    <dgm:cxn modelId="{3E8C13BE-6EBF-4A2D-8315-D90CCE26B9E7}" type="presParOf" srcId="{F68A2DEF-FE62-4F47-A6E9-66EC292B559E}" destId="{BCB29EBB-F6FF-441A-A571-3EE5001EC069}" srcOrd="6" destOrd="0" presId="urn:microsoft.com/office/officeart/2018/2/layout/IconCircleList"/>
    <dgm:cxn modelId="{85C59A3A-377B-4160-A013-564F9FCE9E5A}" type="presParOf" srcId="{BCB29EBB-F6FF-441A-A571-3EE5001EC069}" destId="{8E712062-F9F7-42FE-895A-90373376B7CC}" srcOrd="0" destOrd="0" presId="urn:microsoft.com/office/officeart/2018/2/layout/IconCircleList"/>
    <dgm:cxn modelId="{DCDCA9A7-E028-4D5D-8E1E-5C56DB7EC5B7}" type="presParOf" srcId="{BCB29EBB-F6FF-441A-A571-3EE5001EC069}" destId="{4B9E9D16-B34C-4C16-AE73-0EC5AC105AC3}" srcOrd="1" destOrd="0" presId="urn:microsoft.com/office/officeart/2018/2/layout/IconCircleList"/>
    <dgm:cxn modelId="{78B6EB53-4218-496F-B864-DCCEF8C4D198}" type="presParOf" srcId="{BCB29EBB-F6FF-441A-A571-3EE5001EC069}" destId="{42913446-9AE6-4AC5-92D7-3052B10CAE3C}" srcOrd="2" destOrd="0" presId="urn:microsoft.com/office/officeart/2018/2/layout/IconCircleList"/>
    <dgm:cxn modelId="{6F89611E-B01F-423A-8E68-A7CBC8EA5C43}" type="presParOf" srcId="{BCB29EBB-F6FF-441A-A571-3EE5001EC069}" destId="{2C6DF44A-1FD7-4D08-9052-8AB6A2FA39D5}" srcOrd="3" destOrd="0" presId="urn:microsoft.com/office/officeart/2018/2/layout/IconCircleList"/>
    <dgm:cxn modelId="{51D67431-2A86-4B53-ADC1-98A12C853479}" type="presParOf" srcId="{F68A2DEF-FE62-4F47-A6E9-66EC292B559E}" destId="{F1433355-B6DC-42D0-935E-59951D725D78}" srcOrd="7" destOrd="0" presId="urn:microsoft.com/office/officeart/2018/2/layout/IconCircleList"/>
    <dgm:cxn modelId="{AB20792D-7A76-4A7A-B0AF-F1C6A42AAD34}" type="presParOf" srcId="{F68A2DEF-FE62-4F47-A6E9-66EC292B559E}" destId="{5B72EE47-16EC-475D-8021-56D95F1B3BC4}" srcOrd="8" destOrd="0" presId="urn:microsoft.com/office/officeart/2018/2/layout/IconCircleList"/>
    <dgm:cxn modelId="{D89E86C7-6777-47D9-AFD5-0D03EA575D78}" type="presParOf" srcId="{5B72EE47-16EC-475D-8021-56D95F1B3BC4}" destId="{963B30D1-9C9E-4043-B8F8-A92595117D7C}" srcOrd="0" destOrd="0" presId="urn:microsoft.com/office/officeart/2018/2/layout/IconCircleList"/>
    <dgm:cxn modelId="{A12B04D3-60FB-4EAA-A0A5-BABF3A4D6026}" type="presParOf" srcId="{5B72EE47-16EC-475D-8021-56D95F1B3BC4}" destId="{518CAE98-52EC-4467-852D-14723727B399}" srcOrd="1" destOrd="0" presId="urn:microsoft.com/office/officeart/2018/2/layout/IconCircleList"/>
    <dgm:cxn modelId="{06A40552-611C-4991-9CDE-7EFC959FFBF4}" type="presParOf" srcId="{5B72EE47-16EC-475D-8021-56D95F1B3BC4}" destId="{A6D6D77B-59C5-456A-A81C-4679D3E0120B}" srcOrd="2" destOrd="0" presId="urn:microsoft.com/office/officeart/2018/2/layout/IconCircleList"/>
    <dgm:cxn modelId="{CDC0FE40-91FC-4754-A7C1-D34F383F4546}" type="presParOf" srcId="{5B72EE47-16EC-475D-8021-56D95F1B3BC4}" destId="{D0C737A2-6C0D-4785-88F5-13D1EE4A02CC}" srcOrd="3" destOrd="0" presId="urn:microsoft.com/office/officeart/2018/2/layout/IconCircle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F3AAD1-ACED-4C23-B2C1-018819D28DF9}">
      <dsp:nvSpPr>
        <dsp:cNvPr id="0" name=""/>
        <dsp:cNvSpPr/>
      </dsp:nvSpPr>
      <dsp:spPr>
        <a:xfrm>
          <a:off x="0" y="2366"/>
          <a:ext cx="12801600" cy="11993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6ECDF8-73C3-4D7F-8036-540C205CA9FA}">
      <dsp:nvSpPr>
        <dsp:cNvPr id="0" name=""/>
        <dsp:cNvSpPr/>
      </dsp:nvSpPr>
      <dsp:spPr>
        <a:xfrm>
          <a:off x="362792" y="272211"/>
          <a:ext cx="659622" cy="6596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28B126-1C97-4E52-8919-7BC68737EB88}">
      <dsp:nvSpPr>
        <dsp:cNvPr id="0" name=""/>
        <dsp:cNvSpPr/>
      </dsp:nvSpPr>
      <dsp:spPr>
        <a:xfrm>
          <a:off x="1385206" y="2366"/>
          <a:ext cx="11416393" cy="1199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927" tIns="126927" rIns="126927" bIns="126927"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latin typeface="Inter" panose="020B0604020202020204" charset="0"/>
              <a:ea typeface="Inter" panose="020B0604020202020204" charset="0"/>
            </a:rPr>
            <a:t>The global dataset covers all countries around the world​</a:t>
          </a:r>
        </a:p>
      </dsp:txBody>
      <dsp:txXfrm>
        <a:off x="1385206" y="2366"/>
        <a:ext cx="11416393" cy="1199313"/>
      </dsp:txXfrm>
    </dsp:sp>
    <dsp:sp modelId="{C739C287-BE22-4842-A682-61A13F58A0E8}">
      <dsp:nvSpPr>
        <dsp:cNvPr id="0" name=""/>
        <dsp:cNvSpPr/>
      </dsp:nvSpPr>
      <dsp:spPr>
        <a:xfrm>
          <a:off x="0" y="1501507"/>
          <a:ext cx="12801600" cy="11993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50527B-CB9F-42B1-8D88-CC5B46339789}">
      <dsp:nvSpPr>
        <dsp:cNvPr id="0" name=""/>
        <dsp:cNvSpPr/>
      </dsp:nvSpPr>
      <dsp:spPr>
        <a:xfrm>
          <a:off x="362792" y="1771353"/>
          <a:ext cx="659622" cy="6596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5F61D4-66F2-44AE-A0CE-61BDF3837A76}">
      <dsp:nvSpPr>
        <dsp:cNvPr id="0" name=""/>
        <dsp:cNvSpPr/>
      </dsp:nvSpPr>
      <dsp:spPr>
        <a:xfrm>
          <a:off x="1385206" y="1501507"/>
          <a:ext cx="11416393" cy="1199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927" tIns="126927" rIns="126927" bIns="126927"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latin typeface="Inter" panose="020B0604020202020204" charset="0"/>
              <a:ea typeface="Inter" panose="020B0604020202020204" charset="0"/>
            </a:rPr>
            <a:t>Time range: last 10 years ​</a:t>
          </a:r>
          <a:br>
            <a:rPr lang="pl-PL" sz="2200" kern="1200" dirty="0">
              <a:solidFill>
                <a:schemeClr val="bg1"/>
              </a:solidFill>
              <a:latin typeface="Inter" panose="020B0604020202020204" charset="0"/>
              <a:ea typeface="Inter" panose="020B0604020202020204" charset="0"/>
            </a:rPr>
          </a:br>
          <a:r>
            <a:rPr lang="en-US" sz="2200" kern="1200" dirty="0">
              <a:solidFill>
                <a:schemeClr val="bg1"/>
              </a:solidFill>
              <a:latin typeface="Inter" panose="020B0604020202020204" charset="0"/>
              <a:ea typeface="Inter" panose="020B0604020202020204" charset="0"/>
            </a:rPr>
            <a:t>[2016-2025]</a:t>
          </a:r>
        </a:p>
      </dsp:txBody>
      <dsp:txXfrm>
        <a:off x="1385206" y="1501507"/>
        <a:ext cx="11416393" cy="1199313"/>
      </dsp:txXfrm>
    </dsp:sp>
    <dsp:sp modelId="{DAA6D19A-FECE-42AC-A59F-AC3A2B5ADCEA}">
      <dsp:nvSpPr>
        <dsp:cNvPr id="0" name=""/>
        <dsp:cNvSpPr/>
      </dsp:nvSpPr>
      <dsp:spPr>
        <a:xfrm>
          <a:off x="0" y="3000649"/>
          <a:ext cx="12801600" cy="11993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24365E-C7A2-4FED-B6F1-B7C3C28DFB24}">
      <dsp:nvSpPr>
        <dsp:cNvPr id="0" name=""/>
        <dsp:cNvSpPr/>
      </dsp:nvSpPr>
      <dsp:spPr>
        <a:xfrm>
          <a:off x="362792" y="3270495"/>
          <a:ext cx="659622" cy="6596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97A216-7768-4C9F-9FAF-4F1402627DA7}">
      <dsp:nvSpPr>
        <dsp:cNvPr id="0" name=""/>
        <dsp:cNvSpPr/>
      </dsp:nvSpPr>
      <dsp:spPr>
        <a:xfrm>
          <a:off x="1385206" y="3000649"/>
          <a:ext cx="11416393" cy="1199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927" tIns="126927" rIns="126927" bIns="126927"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latin typeface="Inter" panose="020B0604020202020204" charset="0"/>
              <a:ea typeface="Inter" panose="020B0604020202020204" charset="0"/>
            </a:rPr>
            <a:t>Contains energy production by source: ​coal, gas, oil, hydro, nuclear, solar, wind and biofuel ​</a:t>
          </a:r>
        </a:p>
      </dsp:txBody>
      <dsp:txXfrm>
        <a:off x="1385206" y="3000649"/>
        <a:ext cx="11416393" cy="1199313"/>
      </dsp:txXfrm>
    </dsp:sp>
    <dsp:sp modelId="{5F3096FD-846E-4649-8FAE-4AFB94109BD3}">
      <dsp:nvSpPr>
        <dsp:cNvPr id="0" name=""/>
        <dsp:cNvSpPr/>
      </dsp:nvSpPr>
      <dsp:spPr>
        <a:xfrm>
          <a:off x="0" y="4499791"/>
          <a:ext cx="12801600" cy="11993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6882A4-BF50-4B24-AB33-EE5441E5D69A}">
      <dsp:nvSpPr>
        <dsp:cNvPr id="0" name=""/>
        <dsp:cNvSpPr/>
      </dsp:nvSpPr>
      <dsp:spPr>
        <a:xfrm>
          <a:off x="362792" y="4769636"/>
          <a:ext cx="659622" cy="6596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7F4D93-8747-4281-86A1-DF4BDC219AEE}">
      <dsp:nvSpPr>
        <dsp:cNvPr id="0" name=""/>
        <dsp:cNvSpPr/>
      </dsp:nvSpPr>
      <dsp:spPr>
        <a:xfrm>
          <a:off x="1385206" y="4499791"/>
          <a:ext cx="11416393" cy="1199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927" tIns="126927" rIns="126927" bIns="126927"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latin typeface="Inter" panose="020B0604020202020204" charset="0"/>
              <a:ea typeface="Inter" panose="020B0604020202020204" charset="0"/>
            </a:rPr>
            <a:t>Includes renewable share (%) and carbon intensity (CO₂ per kWh)​</a:t>
          </a:r>
        </a:p>
      </dsp:txBody>
      <dsp:txXfrm>
        <a:off x="1385206" y="4499791"/>
        <a:ext cx="11416393" cy="11993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14FE6F-119B-49E3-896C-4826BBA75923}">
      <dsp:nvSpPr>
        <dsp:cNvPr id="0" name=""/>
        <dsp:cNvSpPr/>
      </dsp:nvSpPr>
      <dsp:spPr>
        <a:xfrm>
          <a:off x="771839" y="1355116"/>
          <a:ext cx="1451520" cy="145152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E259D4-6491-4C33-95E2-06639BBAF700}">
      <dsp:nvSpPr>
        <dsp:cNvPr id="0" name=""/>
        <dsp:cNvSpPr/>
      </dsp:nvSpPr>
      <dsp:spPr>
        <a:xfrm>
          <a:off x="1076659" y="1659935"/>
          <a:ext cx="841881" cy="841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BFD9DD-446F-4132-A648-BE9FFCB86302}">
      <dsp:nvSpPr>
        <dsp:cNvPr id="0" name=""/>
        <dsp:cNvSpPr/>
      </dsp:nvSpPr>
      <dsp:spPr>
        <a:xfrm>
          <a:off x="2534400" y="1355116"/>
          <a:ext cx="3421440" cy="145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Inter" panose="020B0604020202020204" charset="0"/>
              <a:ea typeface="Inter" panose="020B0604020202020204" charset="0"/>
            </a:rPr>
            <a:t>Cleaned and prepared the dataset</a:t>
          </a:r>
        </a:p>
      </dsp:txBody>
      <dsp:txXfrm>
        <a:off x="2534400" y="1355116"/>
        <a:ext cx="3421440" cy="1451520"/>
      </dsp:txXfrm>
    </dsp:sp>
    <dsp:sp modelId="{F3DC664B-6A40-46F3-BA49-54EFAB0E3AED}">
      <dsp:nvSpPr>
        <dsp:cNvPr id="0" name=""/>
        <dsp:cNvSpPr/>
      </dsp:nvSpPr>
      <dsp:spPr>
        <a:xfrm>
          <a:off x="6552000" y="1355116"/>
          <a:ext cx="1451520" cy="145152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8F2457-F03E-4C1F-9BB2-83E7B89F2DB1}">
      <dsp:nvSpPr>
        <dsp:cNvPr id="0" name=""/>
        <dsp:cNvSpPr/>
      </dsp:nvSpPr>
      <dsp:spPr>
        <a:xfrm>
          <a:off x="6856819" y="1659935"/>
          <a:ext cx="841881" cy="841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04AD5A-B4CC-4F61-877E-B3632E0B8970}">
      <dsp:nvSpPr>
        <dsp:cNvPr id="0" name=""/>
        <dsp:cNvSpPr/>
      </dsp:nvSpPr>
      <dsp:spPr>
        <a:xfrm>
          <a:off x="8314560" y="1355116"/>
          <a:ext cx="3421440" cy="145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Inter" panose="020B0604020202020204" charset="0"/>
              <a:ea typeface="Inter" panose="020B0604020202020204" charset="0"/>
            </a:rPr>
            <a:t>Created prediction target (next-year emissions)</a:t>
          </a:r>
        </a:p>
      </dsp:txBody>
      <dsp:txXfrm>
        <a:off x="8314560" y="1355116"/>
        <a:ext cx="3421440" cy="1451520"/>
      </dsp:txXfrm>
    </dsp:sp>
    <dsp:sp modelId="{66D62EFF-6A36-4876-B8C2-27AD140E1A8F}">
      <dsp:nvSpPr>
        <dsp:cNvPr id="0" name=""/>
        <dsp:cNvSpPr/>
      </dsp:nvSpPr>
      <dsp:spPr>
        <a:xfrm>
          <a:off x="12332160" y="1355116"/>
          <a:ext cx="1451520" cy="145152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9003D9-2DBC-4486-8F30-D0153E4237AE}">
      <dsp:nvSpPr>
        <dsp:cNvPr id="0" name=""/>
        <dsp:cNvSpPr/>
      </dsp:nvSpPr>
      <dsp:spPr>
        <a:xfrm>
          <a:off x="12636979" y="1659935"/>
          <a:ext cx="841881" cy="841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723722-7A0F-4CB2-9A52-9A9E42694E69}">
      <dsp:nvSpPr>
        <dsp:cNvPr id="0" name=""/>
        <dsp:cNvSpPr/>
      </dsp:nvSpPr>
      <dsp:spPr>
        <a:xfrm>
          <a:off x="14094720" y="1355116"/>
          <a:ext cx="3421440" cy="145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Inter" panose="020B0604020202020204" charset="0"/>
              <a:ea typeface="Inter" panose="020B0604020202020204" charset="0"/>
            </a:rPr>
            <a:t>Split data into training and testing sets</a:t>
          </a:r>
        </a:p>
      </dsp:txBody>
      <dsp:txXfrm>
        <a:off x="14094720" y="1355116"/>
        <a:ext cx="3421440" cy="1451520"/>
      </dsp:txXfrm>
    </dsp:sp>
    <dsp:sp modelId="{8E712062-F9F7-42FE-895A-90373376B7CC}">
      <dsp:nvSpPr>
        <dsp:cNvPr id="0" name=""/>
        <dsp:cNvSpPr/>
      </dsp:nvSpPr>
      <dsp:spPr>
        <a:xfrm>
          <a:off x="772217" y="3956342"/>
          <a:ext cx="1451520" cy="145152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9E9D16-B34C-4C16-AE73-0EC5AC105AC3}">
      <dsp:nvSpPr>
        <dsp:cNvPr id="0" name=""/>
        <dsp:cNvSpPr/>
      </dsp:nvSpPr>
      <dsp:spPr>
        <a:xfrm>
          <a:off x="1076659" y="4261161"/>
          <a:ext cx="841881" cy="841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6DF44A-1FD7-4D08-9052-8AB6A2FA39D5}">
      <dsp:nvSpPr>
        <dsp:cNvPr id="0" name=""/>
        <dsp:cNvSpPr/>
      </dsp:nvSpPr>
      <dsp:spPr>
        <a:xfrm>
          <a:off x="2534400" y="3956342"/>
          <a:ext cx="3421440" cy="145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Inter" panose="020B0604020202020204" charset="0"/>
              <a:ea typeface="Inter" panose="020B0604020202020204" charset="0"/>
            </a:rPr>
            <a:t>Trained a Random Forest model</a:t>
          </a:r>
        </a:p>
      </dsp:txBody>
      <dsp:txXfrm>
        <a:off x="2534400" y="3956342"/>
        <a:ext cx="3421440" cy="1451520"/>
      </dsp:txXfrm>
    </dsp:sp>
    <dsp:sp modelId="{963B30D1-9C9E-4043-B8F8-A92595117D7C}">
      <dsp:nvSpPr>
        <dsp:cNvPr id="0" name=""/>
        <dsp:cNvSpPr/>
      </dsp:nvSpPr>
      <dsp:spPr>
        <a:xfrm>
          <a:off x="6552000" y="3956342"/>
          <a:ext cx="1451520" cy="145152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8CAE98-52EC-4467-852D-14723727B399}">
      <dsp:nvSpPr>
        <dsp:cNvPr id="0" name=""/>
        <dsp:cNvSpPr/>
      </dsp:nvSpPr>
      <dsp:spPr>
        <a:xfrm>
          <a:off x="6856819" y="4261161"/>
          <a:ext cx="841881" cy="8418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C737A2-6C0D-4785-88F5-13D1EE4A02CC}">
      <dsp:nvSpPr>
        <dsp:cNvPr id="0" name=""/>
        <dsp:cNvSpPr/>
      </dsp:nvSpPr>
      <dsp:spPr>
        <a:xfrm>
          <a:off x="8314560" y="3956342"/>
          <a:ext cx="3421440" cy="145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Inter" panose="020B0604020202020204" charset="0"/>
              <a:ea typeface="Inter" panose="020B0604020202020204" charset="0"/>
            </a:rPr>
            <a:t>Evaluated performance using multiple metrics</a:t>
          </a:r>
        </a:p>
      </dsp:txBody>
      <dsp:txXfrm>
        <a:off x="8314560" y="3956342"/>
        <a:ext cx="3421440" cy="14515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project studies the relationship between electricity production and carbon intensity. The main idea is to see how different energy sources such as coal, gas, hydro, wind, solar, and nuclear energy influence the amount of CO2 emitted per unit of electricity. I used data analysis and machine learning to build a model that predicts carbon intensity and helps explain which energy sources matter the most.</a:t>
            </a:r>
          </a:p>
          <a:p>
            <a:endParaRPr lang="en-US"/>
          </a:p>
          <a:p>
            <a:r>
              <a:rPr lang="en-US"/>
              <a:t>The problem I wanted to solve is important because electricity production is one of the biggest contributors to greenhouse gas emissions. Some energy sources produce much more CO2 than others, so if we understand how the energy mix changes carbon intensity, we can better understand the environmental impact of a region. The question behind the project is simple: can we use the electricity mix to estimate carbon intensity accurately?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8104B-C36E-7772-5A77-943F8B3E622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2DCFBD-E256-D67E-02BF-7B22A3D78B9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70CAE6A-8D10-6664-A5DB-B1742A826E4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C7F6EB4-68F0-8647-5136-6C470124A1A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D91D122-1577-9BC9-0797-668F1DD8091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project studies the relationship between electricity production and carbon intensity. The main idea is to see how different energy sources such as coal, gas, hydro, wind, solar, and nuclear energy influence the amount of CO2 emitted per unit of electricity. I used data analysis and machine learning to build a model that predicts carbon intensity and helps explain which energy sources matter the most.</a:t>
            </a:r>
          </a:p>
          <a:p>
            <a:endParaRPr lang="en-US"/>
          </a:p>
          <a:p>
            <a:r>
              <a:rPr lang="en-US"/>
              <a:t>The problem I wanted to solve is important because electricity production is one of the biggest contributors to greenhouse gas emissions. Some energy sources produce much more CO2 than others, so if we understand how the energy mix changes carbon intensity, we can better understand the environmental impact of a region. The question behind the project is simple: can we use the electricity mix to estimate carbon intensity accurately?</a:t>
            </a:r>
          </a:p>
        </p:txBody>
      </p:sp>
      <p:sp>
        <p:nvSpPr>
          <p:cNvPr id="6" name="Footer Placeholder 5">
            <a:extLst>
              <a:ext uri="{FF2B5EF4-FFF2-40B4-BE49-F238E27FC236}">
                <a16:creationId xmlns:a16="http://schemas.microsoft.com/office/drawing/2014/main" id="{027DF67F-0E98-B6A2-3E49-5335C75C827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36F0BE1-2086-9E21-D7FF-D63F8B6D794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49969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A1453-A024-26E8-49F3-2E588267E9A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4E7A70-41D4-A4B9-605F-68CF9E2AEF6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9A50B59-5799-BF8C-2DAB-8FBA3D3757D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7E6399F-FACE-D674-80D2-965F2BA4324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4E7A7F8-F70D-B134-D917-F3B7058912D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5D92B365-F30D-620E-FBC3-9238466692C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DBF8D20-1E63-D8E7-FDAB-672F14B7DFF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26838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CEBA-F223-DB6D-0634-347F32E556F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5D8F6D-83E2-9D22-BFD8-3AE36DEFC62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67706D7-22F4-F5BE-9214-72F0C70957F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25D166B-ACF4-5E95-3B75-976A588FCC3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19CDD55-9984-5402-3D51-0BBF8AE9A09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6839AA81-B999-AE4F-02BA-E4904A91A35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8BD6E48-4BC2-A11B-0228-4B463370B54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70604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FDA0-D110-843B-900D-2776A7C67BC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8272EE-1B0E-B4C4-9F02-EC0646D01D9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EC811F0-9673-E4F5-2DFB-4D75B88B168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7609F40-7622-F109-E13A-00683A231A0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485B56E-10AA-6FD3-FEC0-4CC563D8F35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8064AFFF-A7FF-AF3A-240E-684D4D057CC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348E9AC-5B29-20AF-CA7F-1B9E94DD6F0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19654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732433" y="2171701"/>
            <a:ext cx="13238487" cy="4994372"/>
          </a:xfrm>
        </p:spPr>
        <p:txBody>
          <a:bodyPr anchor="b"/>
          <a:lstStyle>
            <a:lvl1pPr>
              <a:defRPr sz="10800"/>
            </a:lvl1pPr>
          </a:lstStyle>
          <a:p>
            <a:r>
              <a:rPr lang="pl-PL"/>
              <a:t>Kliknij, aby edytować styl</a:t>
            </a:r>
            <a:endParaRPr lang="en-US" dirty="0"/>
          </a:p>
        </p:txBody>
      </p:sp>
      <p:sp>
        <p:nvSpPr>
          <p:cNvPr id="3" name="Subtitle 2"/>
          <p:cNvSpPr>
            <a:spLocks noGrp="1"/>
          </p:cNvSpPr>
          <p:nvPr>
            <p:ph type="subTitle" idx="1"/>
          </p:nvPr>
        </p:nvSpPr>
        <p:spPr>
          <a:xfrm>
            <a:off x="1732433" y="7166070"/>
            <a:ext cx="13238487" cy="1292130"/>
          </a:xfrm>
        </p:spPr>
        <p:txBody>
          <a:bodyPr anchor="t"/>
          <a:lstStyle>
            <a:lvl1pPr marL="0" indent="0" algn="l">
              <a:buNone/>
              <a:defRPr cap="all">
                <a:solidFill>
                  <a:schemeClr val="bg2">
                    <a:lumMod val="40000"/>
                    <a:lumOff val="6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2690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4050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1732435" y="4292600"/>
            <a:ext cx="13238486" cy="2873471"/>
          </a:xfrm>
        </p:spPr>
        <p:txBody>
          <a:bodyPr anchor="b"/>
          <a:lstStyle>
            <a:lvl1pPr algn="l">
              <a:defRPr sz="6000" b="0" cap="none"/>
            </a:lvl1pPr>
          </a:lstStyle>
          <a:p>
            <a:r>
              <a:rPr lang="pl-PL"/>
              <a:t>Kliknij, aby edytować styl</a:t>
            </a:r>
            <a:endParaRPr lang="en-US" dirty="0"/>
          </a:p>
        </p:txBody>
      </p:sp>
      <p:sp>
        <p:nvSpPr>
          <p:cNvPr id="3" name="Text Placeholder 2"/>
          <p:cNvSpPr>
            <a:spLocks noGrp="1"/>
          </p:cNvSpPr>
          <p:nvPr>
            <p:ph type="body" idx="1"/>
          </p:nvPr>
        </p:nvSpPr>
        <p:spPr>
          <a:xfrm>
            <a:off x="1732433" y="7166072"/>
            <a:ext cx="13238487" cy="1290600"/>
          </a:xfrm>
        </p:spPr>
        <p:txBody>
          <a:bodyPr anchor="t"/>
          <a:lstStyle>
            <a:lvl1pPr marL="0" indent="0" algn="l">
              <a:buNone/>
              <a:defRPr sz="3000" cap="all">
                <a:solidFill>
                  <a:schemeClr val="bg2">
                    <a:lumMod val="40000"/>
                    <a:lumOff val="6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7194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1654969" y="3090863"/>
            <a:ext cx="6594509" cy="6293645"/>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8481740" y="3084139"/>
            <a:ext cx="6594512" cy="6300368"/>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8076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l-PL"/>
              <a:t>Kliknij, aby edytować styl</a:t>
            </a:r>
            <a:endParaRPr lang="en-US" dirty="0"/>
          </a:p>
        </p:txBody>
      </p:sp>
      <p:sp>
        <p:nvSpPr>
          <p:cNvPr id="3" name="Text Placeholder 2"/>
          <p:cNvSpPr>
            <a:spLocks noGrp="1"/>
          </p:cNvSpPr>
          <p:nvPr>
            <p:ph type="body" idx="1"/>
          </p:nvPr>
        </p:nvSpPr>
        <p:spPr>
          <a:xfrm>
            <a:off x="1654970" y="2857500"/>
            <a:ext cx="6594507"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4" name="Content Placeholder 3"/>
          <p:cNvSpPr>
            <a:spLocks noGrp="1"/>
          </p:cNvSpPr>
          <p:nvPr>
            <p:ph sz="half" idx="2"/>
          </p:nvPr>
        </p:nvSpPr>
        <p:spPr>
          <a:xfrm>
            <a:off x="1654969"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8481743" y="2857500"/>
            <a:ext cx="6594509"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6" name="Content Placeholder 5"/>
          <p:cNvSpPr>
            <a:spLocks noGrp="1"/>
          </p:cNvSpPr>
          <p:nvPr>
            <p:ph sz="quarter" idx="4"/>
          </p:nvPr>
        </p:nvSpPr>
        <p:spPr>
          <a:xfrm>
            <a:off x="8481743"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97675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38817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0949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732430" y="2171700"/>
            <a:ext cx="5101596" cy="2171700"/>
          </a:xfrm>
        </p:spPr>
        <p:txBody>
          <a:bodyPr anchor="b"/>
          <a:lstStyle>
            <a:lvl1pPr algn="l">
              <a:defRPr sz="3600" b="0"/>
            </a:lvl1pPr>
          </a:lstStyle>
          <a:p>
            <a:r>
              <a:rPr lang="pl-PL"/>
              <a:t>Kliknij, aby edytować styl</a:t>
            </a:r>
            <a:endParaRPr lang="en-US" dirty="0"/>
          </a:p>
        </p:txBody>
      </p:sp>
      <p:sp>
        <p:nvSpPr>
          <p:cNvPr id="3" name="Content Placeholder 2"/>
          <p:cNvSpPr>
            <a:spLocks noGrp="1"/>
          </p:cNvSpPr>
          <p:nvPr>
            <p:ph idx="1"/>
          </p:nvPr>
        </p:nvSpPr>
        <p:spPr>
          <a:xfrm>
            <a:off x="7176925" y="2171700"/>
            <a:ext cx="7793996" cy="6858000"/>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1732430" y="4693921"/>
            <a:ext cx="5101595" cy="4343399"/>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7"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951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730861" y="2781288"/>
            <a:ext cx="7639359" cy="2362212"/>
          </a:xfrm>
        </p:spPr>
        <p:txBody>
          <a:bodyPr anchor="b">
            <a:normAutofit/>
          </a:bodyPr>
          <a:lstStyle>
            <a:lvl1pPr algn="l">
              <a:defRPr sz="5400" b="0"/>
            </a:lvl1pPr>
          </a:lstStyle>
          <a:p>
            <a:r>
              <a:rPr lang="pl-PL"/>
              <a:t>Kliknij, aby edytować styl</a:t>
            </a:r>
            <a:endParaRPr lang="en-US" dirty="0"/>
          </a:p>
        </p:txBody>
      </p:sp>
      <p:sp>
        <p:nvSpPr>
          <p:cNvPr id="3" name="Picture Placeholder 2"/>
          <p:cNvSpPr>
            <a:spLocks noGrp="1" noChangeAspect="1"/>
          </p:cNvSpPr>
          <p:nvPr>
            <p:ph type="pic" idx="1"/>
          </p:nvPr>
        </p:nvSpPr>
        <p:spPr>
          <a:xfrm>
            <a:off x="10424319" y="1714500"/>
            <a:ext cx="480060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pl-PL"/>
              <a:t>Kliknij ikonę, aby dodać obraz</a:t>
            </a:r>
            <a:endParaRPr lang="en-US" dirty="0"/>
          </a:p>
        </p:txBody>
      </p:sp>
      <p:sp>
        <p:nvSpPr>
          <p:cNvPr id="4" name="Text Placeholder 3"/>
          <p:cNvSpPr>
            <a:spLocks noGrp="1"/>
          </p:cNvSpPr>
          <p:nvPr>
            <p:ph type="body" sz="half" idx="2"/>
          </p:nvPr>
        </p:nvSpPr>
        <p:spPr>
          <a:xfrm>
            <a:off x="1732432" y="5486400"/>
            <a:ext cx="7627469" cy="2057400"/>
          </a:xfrm>
        </p:spPr>
        <p:txBody>
          <a:bodyP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8898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raz panoramiczny z podpisem">
    <p:spTree>
      <p:nvGrpSpPr>
        <p:cNvPr id="1" name=""/>
        <p:cNvGrpSpPr/>
        <p:nvPr/>
      </p:nvGrpSpPr>
      <p:grpSpPr>
        <a:xfrm>
          <a:off x="0" y="0"/>
          <a:ext cx="0" cy="0"/>
          <a:chOff x="0" y="0"/>
          <a:chExt cx="0" cy="0"/>
        </a:xfrm>
      </p:grpSpPr>
      <p:sp>
        <p:nvSpPr>
          <p:cNvPr id="2" name="Title 1"/>
          <p:cNvSpPr>
            <a:spLocks noGrp="1"/>
          </p:cNvSpPr>
          <p:nvPr>
            <p:ph type="title"/>
          </p:nvPr>
        </p:nvSpPr>
        <p:spPr>
          <a:xfrm>
            <a:off x="1732435" y="7200880"/>
            <a:ext cx="13238486" cy="850107"/>
          </a:xfrm>
        </p:spPr>
        <p:txBody>
          <a:bodyPr anchor="b">
            <a:normAutofit/>
          </a:bodyPr>
          <a:lstStyle>
            <a:lvl1pPr algn="l">
              <a:defRPr sz="3600" b="0"/>
            </a:lvl1pPr>
          </a:lstStyle>
          <a:p>
            <a:r>
              <a:rPr lang="pl-PL"/>
              <a:t>Kliknij, aby edytować styl</a:t>
            </a:r>
            <a:endParaRPr lang="en-US" dirty="0"/>
          </a:p>
        </p:txBody>
      </p:sp>
      <p:sp>
        <p:nvSpPr>
          <p:cNvPr id="3" name="Picture Placeholder 2"/>
          <p:cNvSpPr>
            <a:spLocks noGrp="1" noChangeAspect="1"/>
          </p:cNvSpPr>
          <p:nvPr>
            <p:ph type="pic" idx="1"/>
          </p:nvPr>
        </p:nvSpPr>
        <p:spPr>
          <a:xfrm>
            <a:off x="1732433" y="1028700"/>
            <a:ext cx="13238487" cy="54609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pl-PL"/>
              <a:t>Kliknij ikonę, aby dodać obraz</a:t>
            </a:r>
            <a:endParaRPr lang="en-US" dirty="0"/>
          </a:p>
        </p:txBody>
      </p:sp>
      <p:sp>
        <p:nvSpPr>
          <p:cNvPr id="4" name="Text Placeholder 3"/>
          <p:cNvSpPr>
            <a:spLocks noGrp="1"/>
          </p:cNvSpPr>
          <p:nvPr>
            <p:ph type="body" sz="half" idx="2"/>
          </p:nvPr>
        </p:nvSpPr>
        <p:spPr>
          <a:xfrm>
            <a:off x="1732434" y="8050988"/>
            <a:ext cx="13238484" cy="740568"/>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1D8BD707-D9CF-40AE-B4C6-C98DA3205C09}" type="datetimeFigureOut">
              <a:rPr lang="en-US" smtClean="0"/>
              <a:pPr/>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45554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ytuł i podpis">
    <p:spTree>
      <p:nvGrpSpPr>
        <p:cNvPr id="1" name=""/>
        <p:cNvGrpSpPr/>
        <p:nvPr/>
      </p:nvGrpSpPr>
      <p:grpSpPr>
        <a:xfrm>
          <a:off x="0" y="0"/>
          <a:ext cx="0" cy="0"/>
          <a:chOff x="0" y="0"/>
          <a:chExt cx="0" cy="0"/>
        </a:xfrm>
      </p:grpSpPr>
      <p:sp>
        <p:nvSpPr>
          <p:cNvPr id="2" name="Title 1"/>
          <p:cNvSpPr>
            <a:spLocks noGrp="1"/>
          </p:cNvSpPr>
          <p:nvPr>
            <p:ph type="title"/>
          </p:nvPr>
        </p:nvSpPr>
        <p:spPr>
          <a:xfrm>
            <a:off x="1732432" y="2171700"/>
            <a:ext cx="13238489" cy="2971800"/>
          </a:xfrm>
        </p:spPr>
        <p:txBody>
          <a:bodyPr/>
          <a:lstStyle>
            <a:lvl1pPr>
              <a:defRPr sz="7200"/>
            </a:lvl1pPr>
          </a:lstStyle>
          <a:p>
            <a:r>
              <a:rPr lang="pl-PL"/>
              <a:t>Kliknij, aby edytować styl</a:t>
            </a:r>
            <a:endParaRPr lang="en-US" dirty="0"/>
          </a:p>
        </p:txBody>
      </p:sp>
      <p:sp>
        <p:nvSpPr>
          <p:cNvPr id="8" name="Text Placeholder 3"/>
          <p:cNvSpPr>
            <a:spLocks noGrp="1"/>
          </p:cNvSpPr>
          <p:nvPr>
            <p:ph type="body" sz="half" idx="2"/>
          </p:nvPr>
        </p:nvSpPr>
        <p:spPr>
          <a:xfrm>
            <a:off x="1732432" y="5486400"/>
            <a:ext cx="13238489" cy="35433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48033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ferta z podpisem">
    <p:spTree>
      <p:nvGrpSpPr>
        <p:cNvPr id="1" name=""/>
        <p:cNvGrpSpPr/>
        <p:nvPr/>
      </p:nvGrpSpPr>
      <p:grpSpPr>
        <a:xfrm>
          <a:off x="0" y="0"/>
          <a:ext cx="0" cy="0"/>
          <a:chOff x="0" y="0"/>
          <a:chExt cx="0" cy="0"/>
        </a:xfrm>
      </p:grpSpPr>
      <p:sp>
        <p:nvSpPr>
          <p:cNvPr id="2" name="Title 1"/>
          <p:cNvSpPr>
            <a:spLocks noGrp="1"/>
          </p:cNvSpPr>
          <p:nvPr>
            <p:ph type="title"/>
          </p:nvPr>
        </p:nvSpPr>
        <p:spPr>
          <a:xfrm>
            <a:off x="2362202" y="2171700"/>
            <a:ext cx="11998973" cy="3485061"/>
          </a:xfrm>
        </p:spPr>
        <p:txBody>
          <a:bodyPr/>
          <a:lstStyle>
            <a:lvl1pPr>
              <a:defRPr sz="7200"/>
            </a:lvl1pPr>
          </a:lstStyle>
          <a:p>
            <a:r>
              <a:rPr lang="pl-PL"/>
              <a:t>Kliknij, aby edytować styl</a:t>
            </a:r>
            <a:endParaRPr lang="en-US" dirty="0"/>
          </a:p>
        </p:txBody>
      </p:sp>
      <p:sp>
        <p:nvSpPr>
          <p:cNvPr id="11" name="Text Placeholder 3"/>
          <p:cNvSpPr>
            <a:spLocks noGrp="1"/>
          </p:cNvSpPr>
          <p:nvPr>
            <p:ph type="body" sz="half" idx="14"/>
          </p:nvPr>
        </p:nvSpPr>
        <p:spPr>
          <a:xfrm>
            <a:off x="2895601" y="5656761"/>
            <a:ext cx="10919474" cy="513261"/>
          </a:xfrm>
        </p:spPr>
        <p:txBody>
          <a:bodyPr vert="horz" lIns="91440" tIns="45720" rIns="91440" bIns="45720" rtlCol="0" anchor="t">
            <a:normAutofit/>
          </a:bodyPr>
          <a:lstStyle>
            <a:lvl1pPr marL="0" indent="0">
              <a:buNone/>
              <a:defRPr lang="en-US" sz="2100" b="0" i="0" kern="1200" cap="small" dirty="0">
                <a:solidFill>
                  <a:schemeClr val="bg2">
                    <a:lumMod val="40000"/>
                    <a:lumOff val="60000"/>
                  </a:schemeClr>
                </a:solidFill>
                <a:latin typeface="+mj-lt"/>
                <a:ea typeface="+mj-ea"/>
                <a:cs typeface="+mj-cs"/>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marL="0" lvl="0" indent="0">
              <a:buNone/>
            </a:pPr>
            <a:r>
              <a:rPr lang="pl-PL"/>
              <a:t>Kliknij, aby edytować style wzorca tekstu</a:t>
            </a:r>
          </a:p>
        </p:txBody>
      </p:sp>
      <p:sp>
        <p:nvSpPr>
          <p:cNvPr id="10" name="Text Placeholder 3"/>
          <p:cNvSpPr>
            <a:spLocks noGrp="1"/>
          </p:cNvSpPr>
          <p:nvPr>
            <p:ph type="body" sz="half" idx="2"/>
          </p:nvPr>
        </p:nvSpPr>
        <p:spPr>
          <a:xfrm>
            <a:off x="1732432" y="6525986"/>
            <a:ext cx="13238489" cy="25146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1347443" y="1456880"/>
            <a:ext cx="1202868" cy="290848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8300" dirty="0"/>
              <a:t>“</a:t>
            </a:r>
          </a:p>
        </p:txBody>
      </p:sp>
      <p:sp>
        <p:nvSpPr>
          <p:cNvPr id="15" name="TextBox 14"/>
          <p:cNvSpPr txBox="1"/>
          <p:nvPr/>
        </p:nvSpPr>
        <p:spPr>
          <a:xfrm>
            <a:off x="13995735" y="3920681"/>
            <a:ext cx="1202868" cy="290848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8300" dirty="0"/>
              <a:t>”</a:t>
            </a:r>
          </a:p>
        </p:txBody>
      </p:sp>
    </p:spTree>
    <p:extLst>
      <p:ext uri="{BB962C8B-B14F-4D97-AF65-F5344CB8AC3E}">
        <p14:creationId xmlns:p14="http://schemas.microsoft.com/office/powerpoint/2010/main" val="524019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nazwy">
    <p:spTree>
      <p:nvGrpSpPr>
        <p:cNvPr id="1" name=""/>
        <p:cNvGrpSpPr/>
        <p:nvPr/>
      </p:nvGrpSpPr>
      <p:grpSpPr>
        <a:xfrm>
          <a:off x="0" y="0"/>
          <a:ext cx="0" cy="0"/>
          <a:chOff x="0" y="0"/>
          <a:chExt cx="0" cy="0"/>
        </a:xfrm>
      </p:grpSpPr>
      <p:sp>
        <p:nvSpPr>
          <p:cNvPr id="2" name="Title 1"/>
          <p:cNvSpPr>
            <a:spLocks noGrp="1"/>
          </p:cNvSpPr>
          <p:nvPr>
            <p:ph type="title"/>
          </p:nvPr>
        </p:nvSpPr>
        <p:spPr>
          <a:xfrm>
            <a:off x="1732431" y="4686302"/>
            <a:ext cx="13238490" cy="2479770"/>
          </a:xfrm>
        </p:spPr>
        <p:txBody>
          <a:bodyPr anchor="b"/>
          <a:lstStyle>
            <a:lvl1pPr algn="l">
              <a:defRPr sz="6000" b="0" cap="none"/>
            </a:lvl1pPr>
          </a:lstStyle>
          <a:p>
            <a:r>
              <a:rPr lang="pl-PL"/>
              <a:t>Kliknij, aby edytować styl</a:t>
            </a:r>
            <a:endParaRPr lang="en-US" dirty="0"/>
          </a:p>
        </p:txBody>
      </p:sp>
      <p:sp>
        <p:nvSpPr>
          <p:cNvPr id="3" name="Text Placeholder 2"/>
          <p:cNvSpPr>
            <a:spLocks noGrp="1"/>
          </p:cNvSpPr>
          <p:nvPr>
            <p:ph type="body" idx="1"/>
          </p:nvPr>
        </p:nvSpPr>
        <p:spPr>
          <a:xfrm>
            <a:off x="1732432" y="7166072"/>
            <a:ext cx="13238489" cy="1290600"/>
          </a:xfrm>
        </p:spPr>
        <p:txBody>
          <a:bodyPr anchor="t"/>
          <a:lstStyle>
            <a:lvl1pPr marL="0" indent="0" algn="l">
              <a:buNone/>
              <a:defRPr sz="3000" cap="none">
                <a:solidFill>
                  <a:schemeClr val="bg2">
                    <a:lumMod val="40000"/>
                    <a:lumOff val="6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6052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umn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pl-PL"/>
              <a:t>Kliknij, aby edytować styl</a:t>
            </a:r>
            <a:endParaRPr lang="en-US" dirty="0"/>
          </a:p>
        </p:txBody>
      </p:sp>
      <p:sp>
        <p:nvSpPr>
          <p:cNvPr id="3" name="Text Placeholder 2"/>
          <p:cNvSpPr>
            <a:spLocks noGrp="1"/>
          </p:cNvSpPr>
          <p:nvPr>
            <p:ph type="body" idx="1"/>
          </p:nvPr>
        </p:nvSpPr>
        <p:spPr>
          <a:xfrm>
            <a:off x="949421" y="2971800"/>
            <a:ext cx="4420299"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16" name="Text Placeholder 3"/>
          <p:cNvSpPr>
            <a:spLocks noGrp="1"/>
          </p:cNvSpPr>
          <p:nvPr>
            <p:ph type="body" sz="half" idx="15"/>
          </p:nvPr>
        </p:nvSpPr>
        <p:spPr>
          <a:xfrm>
            <a:off x="978695" y="4000500"/>
            <a:ext cx="4391025"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5" name="Text Placeholder 4"/>
          <p:cNvSpPr>
            <a:spLocks noGrp="1"/>
          </p:cNvSpPr>
          <p:nvPr>
            <p:ph type="body" sz="quarter" idx="3"/>
          </p:nvPr>
        </p:nvSpPr>
        <p:spPr>
          <a:xfrm>
            <a:off x="5825489" y="2971800"/>
            <a:ext cx="4404362"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19" name="Text Placeholder 3"/>
          <p:cNvSpPr>
            <a:spLocks noGrp="1"/>
          </p:cNvSpPr>
          <p:nvPr>
            <p:ph type="body" sz="half" idx="16"/>
          </p:nvPr>
        </p:nvSpPr>
        <p:spPr>
          <a:xfrm>
            <a:off x="5809659" y="4000500"/>
            <a:ext cx="4420191"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14" name="Text Placeholder 4"/>
          <p:cNvSpPr>
            <a:spLocks noGrp="1"/>
          </p:cNvSpPr>
          <p:nvPr>
            <p:ph type="body" sz="quarter" idx="13"/>
          </p:nvPr>
        </p:nvSpPr>
        <p:spPr>
          <a:xfrm>
            <a:off x="10687051" y="2971800"/>
            <a:ext cx="4398170"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20" name="Text Placeholder 3"/>
          <p:cNvSpPr>
            <a:spLocks noGrp="1"/>
          </p:cNvSpPr>
          <p:nvPr>
            <p:ph type="body" sz="half" idx="17"/>
          </p:nvPr>
        </p:nvSpPr>
        <p:spPr>
          <a:xfrm>
            <a:off x="10687051" y="4000500"/>
            <a:ext cx="4398170"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cxnSp>
        <p:nvCxnSpPr>
          <p:cNvPr id="17" name="Straight Connector 16"/>
          <p:cNvCxnSpPr/>
          <p:nvPr/>
        </p:nvCxnSpPr>
        <p:spPr>
          <a:xfrm>
            <a:off x="5589213" y="3200400"/>
            <a:ext cx="0" cy="59436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0443341" y="3200400"/>
            <a:ext cx="0" cy="595032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5446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olumna obraz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pl-PL"/>
              <a:t>Kliknij, aby edytować styl</a:t>
            </a:r>
            <a:endParaRPr lang="en-US" dirty="0"/>
          </a:p>
        </p:txBody>
      </p:sp>
      <p:sp>
        <p:nvSpPr>
          <p:cNvPr id="3" name="Text Placeholder 2"/>
          <p:cNvSpPr>
            <a:spLocks noGrp="1"/>
          </p:cNvSpPr>
          <p:nvPr>
            <p:ph type="body" idx="1"/>
          </p:nvPr>
        </p:nvSpPr>
        <p:spPr>
          <a:xfrm>
            <a:off x="978695" y="6376424"/>
            <a:ext cx="4410075"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29" name="Picture Placeholder 2"/>
          <p:cNvSpPr>
            <a:spLocks noGrp="1" noChangeAspect="1"/>
          </p:cNvSpPr>
          <p:nvPr>
            <p:ph type="pic" idx="15"/>
          </p:nvPr>
        </p:nvSpPr>
        <p:spPr>
          <a:xfrm>
            <a:off x="978695" y="3314700"/>
            <a:ext cx="4410075"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pl-PL"/>
              <a:t>Kliknij ikonę, aby dodać obraz</a:t>
            </a:r>
            <a:endParaRPr lang="en-US" dirty="0"/>
          </a:p>
        </p:txBody>
      </p:sp>
      <p:sp>
        <p:nvSpPr>
          <p:cNvPr id="22" name="Text Placeholder 3"/>
          <p:cNvSpPr>
            <a:spLocks noGrp="1"/>
          </p:cNvSpPr>
          <p:nvPr>
            <p:ph type="body" sz="half" idx="18"/>
          </p:nvPr>
        </p:nvSpPr>
        <p:spPr>
          <a:xfrm>
            <a:off x="978695" y="7240817"/>
            <a:ext cx="4410075"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5" name="Text Placeholder 4"/>
          <p:cNvSpPr>
            <a:spLocks noGrp="1"/>
          </p:cNvSpPr>
          <p:nvPr>
            <p:ph type="body" sz="quarter" idx="3"/>
          </p:nvPr>
        </p:nvSpPr>
        <p:spPr>
          <a:xfrm>
            <a:off x="5834063" y="6376424"/>
            <a:ext cx="4395788"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30" name="Picture Placeholder 2"/>
          <p:cNvSpPr>
            <a:spLocks noGrp="1" noChangeAspect="1"/>
          </p:cNvSpPr>
          <p:nvPr>
            <p:ph type="pic" idx="21"/>
          </p:nvPr>
        </p:nvSpPr>
        <p:spPr>
          <a:xfrm>
            <a:off x="5834062" y="3314700"/>
            <a:ext cx="4395788"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pl-PL"/>
              <a:t>Kliknij ikonę, aby dodać obraz</a:t>
            </a:r>
            <a:endParaRPr lang="en-US" dirty="0"/>
          </a:p>
        </p:txBody>
      </p:sp>
      <p:sp>
        <p:nvSpPr>
          <p:cNvPr id="23" name="Text Placeholder 3"/>
          <p:cNvSpPr>
            <a:spLocks noGrp="1"/>
          </p:cNvSpPr>
          <p:nvPr>
            <p:ph type="body" sz="half" idx="19"/>
          </p:nvPr>
        </p:nvSpPr>
        <p:spPr>
          <a:xfrm>
            <a:off x="5832033" y="7240816"/>
            <a:ext cx="4401609"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sp>
        <p:nvSpPr>
          <p:cNvPr id="14" name="Text Placeholder 4"/>
          <p:cNvSpPr>
            <a:spLocks noGrp="1"/>
          </p:cNvSpPr>
          <p:nvPr>
            <p:ph type="body" sz="quarter" idx="13"/>
          </p:nvPr>
        </p:nvSpPr>
        <p:spPr>
          <a:xfrm>
            <a:off x="10687051" y="6376424"/>
            <a:ext cx="4398170"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l-PL"/>
              <a:t>Kliknij, aby edytować style wzorca tekstu</a:t>
            </a:r>
          </a:p>
        </p:txBody>
      </p:sp>
      <p:sp>
        <p:nvSpPr>
          <p:cNvPr id="31" name="Picture Placeholder 2"/>
          <p:cNvSpPr>
            <a:spLocks noGrp="1" noChangeAspect="1"/>
          </p:cNvSpPr>
          <p:nvPr>
            <p:ph type="pic" idx="22"/>
          </p:nvPr>
        </p:nvSpPr>
        <p:spPr>
          <a:xfrm>
            <a:off x="10687049" y="3314700"/>
            <a:ext cx="4398170"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pl-PL"/>
              <a:t>Kliknij ikonę, aby dodać obraz</a:t>
            </a:r>
            <a:endParaRPr lang="en-US" dirty="0"/>
          </a:p>
        </p:txBody>
      </p:sp>
      <p:sp>
        <p:nvSpPr>
          <p:cNvPr id="24" name="Text Placeholder 3"/>
          <p:cNvSpPr>
            <a:spLocks noGrp="1"/>
          </p:cNvSpPr>
          <p:nvPr>
            <p:ph type="body" sz="half" idx="20"/>
          </p:nvPr>
        </p:nvSpPr>
        <p:spPr>
          <a:xfrm>
            <a:off x="10686863" y="7240813"/>
            <a:ext cx="4403996"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pl-PL"/>
              <a:t>Kliknij, aby edytować style wzorca tekstu</a:t>
            </a:r>
          </a:p>
        </p:txBody>
      </p:sp>
      <p:cxnSp>
        <p:nvCxnSpPr>
          <p:cNvPr id="19" name="Straight Connector 18"/>
          <p:cNvCxnSpPr/>
          <p:nvPr/>
        </p:nvCxnSpPr>
        <p:spPr>
          <a:xfrm>
            <a:off x="5589213" y="3200400"/>
            <a:ext cx="0" cy="59436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443341" y="3200400"/>
            <a:ext cx="0" cy="595032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87258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nchor="t" anchorCtr="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2240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456319" y="645320"/>
            <a:ext cx="2628902" cy="8739188"/>
          </a:xfrm>
        </p:spPr>
        <p:txBody>
          <a:bodyPr vert="eaVert" anchor="b" anchorCtr="0"/>
          <a:lstStyle/>
          <a:p>
            <a:r>
              <a:rPr lang="pl-PL"/>
              <a:t>Kliknij, aby edytować styl</a:t>
            </a:r>
            <a:endParaRPr lang="en-US" dirty="0"/>
          </a:p>
        </p:txBody>
      </p:sp>
      <p:sp>
        <p:nvSpPr>
          <p:cNvPr id="3" name="Vertical Text Placeholder 2"/>
          <p:cNvSpPr>
            <a:spLocks noGrp="1"/>
          </p:cNvSpPr>
          <p:nvPr>
            <p:ph type="body" orient="vert" idx="1"/>
          </p:nvPr>
        </p:nvSpPr>
        <p:spPr>
          <a:xfrm>
            <a:off x="978695" y="1331121"/>
            <a:ext cx="11134724" cy="8053386"/>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89028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4004528"/>
            <a:ext cx="6055518" cy="6282473"/>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4338521"/>
            <a:ext cx="2283618" cy="3548180"/>
          </a:xfrm>
          <a:prstGeom prst="rect">
            <a:avLst/>
          </a:prstGeom>
        </p:spPr>
      </p:pic>
      <p:sp>
        <p:nvSpPr>
          <p:cNvPr id="16" name="Oval 15"/>
          <p:cNvSpPr/>
          <p:nvPr/>
        </p:nvSpPr>
        <p:spPr>
          <a:xfrm>
            <a:off x="12913518" y="2514600"/>
            <a:ext cx="4229100" cy="42291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1999119" y="1"/>
            <a:ext cx="2405081" cy="1712111"/>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2908817" y="9144000"/>
            <a:ext cx="1490601" cy="1143000"/>
          </a:xfrm>
          <a:prstGeom prst="rect">
            <a:avLst/>
          </a:prstGeom>
        </p:spPr>
      </p:pic>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969167" y="679077"/>
            <a:ext cx="14107085" cy="2100795"/>
          </a:xfrm>
          <a:prstGeom prst="rect">
            <a:avLst/>
          </a:prstGeom>
        </p:spPr>
        <p:txBody>
          <a:bodyPr vert="horz" lIns="91440" tIns="45720" rIns="91440" bIns="45720" rtlCol="0" anchor="t">
            <a:noAutofit/>
          </a:bodyPr>
          <a:lstStyle/>
          <a:p>
            <a:r>
              <a:rPr lang="pl-PL"/>
              <a:t>Kliknij, aby edytować styl</a:t>
            </a:r>
            <a:endParaRPr lang="en-US" dirty="0"/>
          </a:p>
        </p:txBody>
      </p:sp>
      <p:sp>
        <p:nvSpPr>
          <p:cNvPr id="3" name="Text Placeholder 2"/>
          <p:cNvSpPr>
            <a:spLocks noGrp="1"/>
          </p:cNvSpPr>
          <p:nvPr>
            <p:ph type="body" idx="1"/>
          </p:nvPr>
        </p:nvSpPr>
        <p:spPr>
          <a:xfrm>
            <a:off x="1654969" y="3079378"/>
            <a:ext cx="13419812" cy="6293222"/>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rot="5400000">
            <a:off x="15233459" y="2686052"/>
            <a:ext cx="1485899" cy="457199"/>
          </a:xfrm>
          <a:prstGeom prst="rect">
            <a:avLst/>
          </a:prstGeom>
        </p:spPr>
        <p:txBody>
          <a:bodyPr vert="horz" lIns="91440" tIns="45720" rIns="91440" bIns="45720" rtlCol="0" anchor="t"/>
          <a:lstStyle>
            <a:lvl1pPr algn="l">
              <a:defRPr sz="1650" b="0" i="0">
                <a:solidFill>
                  <a:schemeClr val="tx1">
                    <a:tint val="75000"/>
                    <a:alpha val="60000"/>
                  </a:schemeClr>
                </a:solidFill>
              </a:defRPr>
            </a:lvl1pPr>
          </a:lstStyle>
          <a:p>
            <a:fld id="{1D8BD707-D9CF-40AE-B4C6-C98DA3205C09}" type="datetimeFigureOut">
              <a:rPr lang="en-US" smtClean="0"/>
              <a:pPr/>
              <a:t>4/9/2026</a:t>
            </a:fld>
            <a:endParaRPr lang="en-US"/>
          </a:p>
        </p:txBody>
      </p:sp>
      <p:sp>
        <p:nvSpPr>
          <p:cNvPr id="5" name="Footer Placeholder 4"/>
          <p:cNvSpPr>
            <a:spLocks noGrp="1"/>
          </p:cNvSpPr>
          <p:nvPr>
            <p:ph type="ftr" sz="quarter" idx="3"/>
          </p:nvPr>
        </p:nvSpPr>
        <p:spPr>
          <a:xfrm rot="5400000">
            <a:off x="13427360" y="4837946"/>
            <a:ext cx="5789693" cy="457202"/>
          </a:xfrm>
          <a:prstGeom prst="rect">
            <a:avLst/>
          </a:prstGeom>
        </p:spPr>
        <p:txBody>
          <a:bodyPr vert="horz" lIns="91440" tIns="45720" rIns="91440" bIns="45720" rtlCol="0" anchor="b"/>
          <a:lstStyle>
            <a:lvl1pPr algn="l">
              <a:defRPr sz="165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5528811" y="443594"/>
            <a:ext cx="1257299" cy="1151531"/>
          </a:xfrm>
          <a:prstGeom prst="rect">
            <a:avLst/>
          </a:prstGeom>
        </p:spPr>
        <p:txBody>
          <a:bodyPr vert="horz" lIns="91440" tIns="45720" rIns="91440" bIns="45720" rtlCol="0" anchor="b"/>
          <a:lstStyle>
            <a:lvl1pPr algn="ctr">
              <a:defRPr sz="4200" b="0" i="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54951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85800" rtl="0" eaLnBrk="1" latinLnBrk="0" hangingPunct="1">
        <a:spcBef>
          <a:spcPct val="0"/>
        </a:spcBef>
        <a:buNone/>
        <a:defRPr sz="63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bg2">
            <a:lumMod val="40000"/>
            <a:lumOff val="60000"/>
          </a:schemeClr>
        </a:buClr>
        <a:buSzPct val="80000"/>
        <a:buFont typeface="Wingdings 3" charset="2"/>
        <a:buChar char=""/>
        <a:defRPr sz="3000" b="0" i="0" kern="1200">
          <a:solidFill>
            <a:schemeClr val="tx1"/>
          </a:solidFill>
          <a:latin typeface="+mj-lt"/>
          <a:ea typeface="+mj-ea"/>
          <a:cs typeface="+mj-cs"/>
        </a:defRPr>
      </a:lvl1pPr>
      <a:lvl2pPr marL="1114425" indent="-428625" algn="l" defTabSz="685800" rtl="0" eaLnBrk="1" latinLnBrk="0" hangingPunct="1">
        <a:spcBef>
          <a:spcPts val="1500"/>
        </a:spcBef>
        <a:spcAft>
          <a:spcPts val="0"/>
        </a:spcAft>
        <a:buClr>
          <a:schemeClr val="bg2">
            <a:lumMod val="40000"/>
            <a:lumOff val="60000"/>
          </a:schemeClr>
        </a:buClr>
        <a:buSzPct val="80000"/>
        <a:buFont typeface="Wingdings 3" charset="2"/>
        <a:buChar char=""/>
        <a:defRPr sz="2700" b="0" i="0" kern="1200">
          <a:solidFill>
            <a:schemeClr val="tx1"/>
          </a:solidFill>
          <a:latin typeface="+mj-lt"/>
          <a:ea typeface="+mj-ea"/>
          <a:cs typeface="+mj-cs"/>
        </a:defRPr>
      </a:lvl2pPr>
      <a:lvl3pPr marL="17145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3pPr>
      <a:lvl4pPr marL="24003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4pPr>
      <a:lvl5pPr marL="30861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5pPr>
      <a:lvl6pPr marL="37590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6pPr>
      <a:lvl7pPr marL="44577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7pPr>
      <a:lvl8pPr marL="51435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8pPr>
      <a:lvl9pPr marL="58293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microsoft.com/office/2007/relationships/diagramDrawing" Target="../diagrams/drawing1.xml"/><Relationship Id="rId3" Type="http://schemas.openxmlformats.org/officeDocument/2006/relationships/image" Target="../media/image14.png"/><Relationship Id="rId7" Type="http://schemas.openxmlformats.org/officeDocument/2006/relationships/image" Target="../media/image9.png"/><Relationship Id="rId12"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diagramQuickStyle" Target="../diagrams/quickStyle1.xml"/><Relationship Id="rId5" Type="http://schemas.openxmlformats.org/officeDocument/2006/relationships/image" Target="../media/image7.png"/><Relationship Id="rId10" Type="http://schemas.openxmlformats.org/officeDocument/2006/relationships/diagramLayout" Target="../diagrams/layout1.xml"/><Relationship Id="rId4" Type="http://schemas.openxmlformats.org/officeDocument/2006/relationships/image" Target="../media/image6.png"/><Relationship Id="rId9"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21.png"/><Relationship Id="rId4" Type="http://schemas.openxmlformats.org/officeDocument/2006/relationships/image" Target="../media/image8.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image" Target="../media/image14.png"/><Relationship Id="rId7" Type="http://schemas.openxmlformats.org/officeDocument/2006/relationships/image" Target="../media/image10.png"/><Relationship Id="rId12"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diagramColors" Target="../diagrams/colors2.xml"/><Relationship Id="rId5" Type="http://schemas.openxmlformats.org/officeDocument/2006/relationships/image" Target="../media/image7.png"/><Relationship Id="rId10" Type="http://schemas.openxmlformats.org/officeDocument/2006/relationships/diagramQuickStyle" Target="../diagrams/quickStyle2.xml"/><Relationship Id="rId4" Type="http://schemas.openxmlformats.org/officeDocument/2006/relationships/image" Target="../media/image6.png"/><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7.jfif"/><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png"/><Relationship Id="rId10" Type="http://schemas.openxmlformats.org/officeDocument/2006/relationships/image" Target="../media/image30.jfif"/><Relationship Id="rId4" Type="http://schemas.openxmlformats.org/officeDocument/2006/relationships/image" Target="../media/image6.png"/><Relationship Id="rId9" Type="http://schemas.openxmlformats.org/officeDocument/2006/relationships/image" Target="../media/image29.sv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5754"/>
        </a:solidFill>
        <a:effectLst/>
      </p:bgPr>
    </p:bg>
    <p:spTree>
      <p:nvGrpSpPr>
        <p:cNvPr id="1" name=""/>
        <p:cNvGrpSpPr/>
        <p:nvPr/>
      </p:nvGrpSpPr>
      <p:grpSpPr>
        <a:xfrm>
          <a:off x="0" y="0"/>
          <a:ext cx="0" cy="0"/>
          <a:chOff x="0" y="0"/>
          <a:chExt cx="0" cy="0"/>
        </a:xfrm>
      </p:grpSpPr>
      <p:sp>
        <p:nvSpPr>
          <p:cNvPr id="2" name="Freeform 2"/>
          <p:cNvSpPr/>
          <p:nvPr/>
        </p:nvSpPr>
        <p:spPr>
          <a:xfrm>
            <a:off x="866982" y="1079000"/>
            <a:ext cx="1118936" cy="3652002"/>
          </a:xfrm>
          <a:custGeom>
            <a:avLst/>
            <a:gdLst/>
            <a:ahLst/>
            <a:cxnLst/>
            <a:rect l="l" t="t" r="r" b="b"/>
            <a:pathLst>
              <a:path w="1118936" h="3652002">
                <a:moveTo>
                  <a:pt x="0" y="0"/>
                </a:moveTo>
                <a:lnTo>
                  <a:pt x="1118936" y="0"/>
                </a:lnTo>
                <a:lnTo>
                  <a:pt x="1118936" y="3652002"/>
                </a:lnTo>
                <a:lnTo>
                  <a:pt x="0" y="3652002"/>
                </a:lnTo>
                <a:lnTo>
                  <a:pt x="0" y="0"/>
                </a:lnTo>
                <a:close/>
              </a:path>
            </a:pathLst>
          </a:custGeom>
          <a:blipFill>
            <a:blip r:embed="rId3"/>
            <a:stretch>
              <a:fillRect l="-1" r="-1"/>
            </a:stretch>
          </a:blipFill>
        </p:spPr>
        <p:txBody>
          <a:bodyPr/>
          <a:lstStyle/>
          <a:p>
            <a:endParaRPr lang="pl-PL"/>
          </a:p>
        </p:txBody>
      </p:sp>
      <p:grpSp>
        <p:nvGrpSpPr>
          <p:cNvPr id="3" name="Group 3"/>
          <p:cNvGrpSpPr/>
          <p:nvPr/>
        </p:nvGrpSpPr>
        <p:grpSpPr>
          <a:xfrm>
            <a:off x="0" y="9208000"/>
            <a:ext cx="18288000" cy="1078800"/>
            <a:chOff x="0" y="0"/>
            <a:chExt cx="24384000" cy="1438400"/>
          </a:xfrm>
        </p:grpSpPr>
        <p:sp>
          <p:nvSpPr>
            <p:cNvPr id="4" name="Freeform 4"/>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5" name="Freeform 5"/>
          <p:cNvSpPr/>
          <p:nvPr/>
        </p:nvSpPr>
        <p:spPr>
          <a:xfrm>
            <a:off x="4712950" y="-1673400"/>
            <a:ext cx="2752402" cy="2752402"/>
          </a:xfrm>
          <a:custGeom>
            <a:avLst/>
            <a:gdLst/>
            <a:ahLst/>
            <a:cxnLst/>
            <a:rect l="l" t="t" r="r" b="b"/>
            <a:pathLst>
              <a:path w="2752402" h="2752402">
                <a:moveTo>
                  <a:pt x="0" y="0"/>
                </a:moveTo>
                <a:lnTo>
                  <a:pt x="2752402" y="0"/>
                </a:lnTo>
                <a:lnTo>
                  <a:pt x="2752402" y="2752402"/>
                </a:lnTo>
                <a:lnTo>
                  <a:pt x="0" y="2752402"/>
                </a:lnTo>
                <a:lnTo>
                  <a:pt x="0" y="0"/>
                </a:lnTo>
                <a:close/>
              </a:path>
            </a:pathLst>
          </a:custGeom>
          <a:blipFill>
            <a:blip r:embed="rId4"/>
            <a:stretch>
              <a:fillRect/>
            </a:stretch>
          </a:blipFill>
        </p:spPr>
        <p:txBody>
          <a:bodyPr/>
          <a:lstStyle/>
          <a:p>
            <a:endParaRPr lang="pl-PL"/>
          </a:p>
        </p:txBody>
      </p:sp>
      <p:sp>
        <p:nvSpPr>
          <p:cNvPr id="6" name="Freeform 6"/>
          <p:cNvSpPr/>
          <p:nvPr/>
        </p:nvSpPr>
        <p:spPr>
          <a:xfrm>
            <a:off x="16353866" y="7032924"/>
            <a:ext cx="3657370" cy="3651952"/>
          </a:xfrm>
          <a:custGeom>
            <a:avLst/>
            <a:gdLst/>
            <a:ahLst/>
            <a:cxnLst/>
            <a:rect l="l" t="t" r="r" b="b"/>
            <a:pathLst>
              <a:path w="3657370" h="3651952">
                <a:moveTo>
                  <a:pt x="0" y="0"/>
                </a:moveTo>
                <a:lnTo>
                  <a:pt x="3657370" y="0"/>
                </a:lnTo>
                <a:lnTo>
                  <a:pt x="3657370" y="3651952"/>
                </a:lnTo>
                <a:lnTo>
                  <a:pt x="0" y="3651952"/>
                </a:lnTo>
                <a:lnTo>
                  <a:pt x="0" y="0"/>
                </a:lnTo>
                <a:close/>
              </a:path>
            </a:pathLst>
          </a:custGeom>
          <a:blipFill>
            <a:blip r:embed="rId5"/>
            <a:stretch>
              <a:fillRect/>
            </a:stretch>
          </a:blipFill>
        </p:spPr>
        <p:txBody>
          <a:bodyPr/>
          <a:lstStyle/>
          <a:p>
            <a:endParaRPr lang="pl-PL"/>
          </a:p>
        </p:txBody>
      </p:sp>
      <p:sp>
        <p:nvSpPr>
          <p:cNvPr id="7" name="Freeform 7"/>
          <p:cNvSpPr/>
          <p:nvPr/>
        </p:nvSpPr>
        <p:spPr>
          <a:xfrm>
            <a:off x="15635550" y="-375300"/>
            <a:ext cx="1842400" cy="1842400"/>
          </a:xfrm>
          <a:custGeom>
            <a:avLst/>
            <a:gdLst/>
            <a:ahLst/>
            <a:cxnLst/>
            <a:rect l="l" t="t" r="r" b="b"/>
            <a:pathLst>
              <a:path w="1842400" h="1842400">
                <a:moveTo>
                  <a:pt x="0" y="0"/>
                </a:moveTo>
                <a:lnTo>
                  <a:pt x="1842400" y="0"/>
                </a:lnTo>
                <a:lnTo>
                  <a:pt x="1842400" y="1842400"/>
                </a:lnTo>
                <a:lnTo>
                  <a:pt x="0" y="1842400"/>
                </a:lnTo>
                <a:lnTo>
                  <a:pt x="0" y="0"/>
                </a:lnTo>
                <a:close/>
              </a:path>
            </a:pathLst>
          </a:custGeom>
          <a:blipFill>
            <a:blip r:embed="rId6"/>
            <a:stretch>
              <a:fillRect/>
            </a:stretch>
          </a:blipFill>
        </p:spPr>
        <p:txBody>
          <a:bodyPr/>
          <a:lstStyle/>
          <a:p>
            <a:endParaRPr lang="pl-PL"/>
          </a:p>
        </p:txBody>
      </p:sp>
      <p:sp>
        <p:nvSpPr>
          <p:cNvPr id="8" name="Freeform 8"/>
          <p:cNvSpPr/>
          <p:nvPr/>
        </p:nvSpPr>
        <p:spPr>
          <a:xfrm>
            <a:off x="16806800" y="-130210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7"/>
            <a:stretch>
              <a:fillRect/>
            </a:stretch>
          </a:blipFill>
        </p:spPr>
        <p:txBody>
          <a:bodyPr/>
          <a:lstStyle/>
          <a:p>
            <a:endParaRPr lang="pl-PL"/>
          </a:p>
        </p:txBody>
      </p:sp>
      <p:sp>
        <p:nvSpPr>
          <p:cNvPr id="9" name="Freeform 9"/>
          <p:cNvSpPr/>
          <p:nvPr/>
        </p:nvSpPr>
        <p:spPr>
          <a:xfrm>
            <a:off x="-1903650" y="7720550"/>
            <a:ext cx="5238502" cy="5231998"/>
          </a:xfrm>
          <a:custGeom>
            <a:avLst/>
            <a:gdLst/>
            <a:ahLst/>
            <a:cxnLst/>
            <a:rect l="l" t="t" r="r" b="b"/>
            <a:pathLst>
              <a:path w="5238502" h="5231998">
                <a:moveTo>
                  <a:pt x="0" y="0"/>
                </a:moveTo>
                <a:lnTo>
                  <a:pt x="5238502" y="0"/>
                </a:lnTo>
                <a:lnTo>
                  <a:pt x="5238502" y="5231998"/>
                </a:lnTo>
                <a:lnTo>
                  <a:pt x="0" y="5231998"/>
                </a:lnTo>
                <a:lnTo>
                  <a:pt x="0" y="0"/>
                </a:lnTo>
                <a:close/>
              </a:path>
            </a:pathLst>
          </a:custGeom>
          <a:blipFill>
            <a:blip r:embed="rId8"/>
            <a:stretch>
              <a:fillRect/>
            </a:stretch>
          </a:blipFill>
        </p:spPr>
        <p:txBody>
          <a:bodyPr/>
          <a:lstStyle/>
          <a:p>
            <a:endParaRPr lang="pl-PL"/>
          </a:p>
        </p:txBody>
      </p:sp>
      <p:sp>
        <p:nvSpPr>
          <p:cNvPr id="10" name="Freeform 10"/>
          <p:cNvSpPr/>
          <p:nvPr/>
        </p:nvSpPr>
        <p:spPr>
          <a:xfrm rot="5400000">
            <a:off x="11504800" y="-358200"/>
            <a:ext cx="880700" cy="2874398"/>
          </a:xfrm>
          <a:custGeom>
            <a:avLst/>
            <a:gdLst/>
            <a:ahLst/>
            <a:cxnLst/>
            <a:rect l="l" t="t" r="r" b="b"/>
            <a:pathLst>
              <a:path w="880700" h="2874398">
                <a:moveTo>
                  <a:pt x="0" y="0"/>
                </a:moveTo>
                <a:lnTo>
                  <a:pt x="880700" y="0"/>
                </a:lnTo>
                <a:lnTo>
                  <a:pt x="880700" y="2874398"/>
                </a:lnTo>
                <a:lnTo>
                  <a:pt x="0" y="2874398"/>
                </a:lnTo>
                <a:lnTo>
                  <a:pt x="0" y="0"/>
                </a:lnTo>
                <a:close/>
              </a:path>
            </a:pathLst>
          </a:custGeom>
          <a:blipFill>
            <a:blip r:embed="rId3"/>
            <a:stretch>
              <a:fillRect/>
            </a:stretch>
          </a:blipFill>
        </p:spPr>
        <p:txBody>
          <a:bodyPr/>
          <a:lstStyle/>
          <a:p>
            <a:endParaRPr lang="pl-PL"/>
          </a:p>
        </p:txBody>
      </p:sp>
      <p:sp>
        <p:nvSpPr>
          <p:cNvPr id="11" name="Freeform 11"/>
          <p:cNvSpPr/>
          <p:nvPr/>
        </p:nvSpPr>
        <p:spPr>
          <a:xfrm>
            <a:off x="6368100" y="833925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7"/>
            <a:stretch>
              <a:fillRect/>
            </a:stretch>
          </a:blipFill>
        </p:spPr>
        <p:txBody>
          <a:bodyPr/>
          <a:lstStyle/>
          <a:p>
            <a:endParaRPr lang="pl-PL"/>
          </a:p>
        </p:txBody>
      </p:sp>
      <p:sp>
        <p:nvSpPr>
          <p:cNvPr id="12" name="TextBox 12"/>
          <p:cNvSpPr txBox="1"/>
          <p:nvPr/>
        </p:nvSpPr>
        <p:spPr>
          <a:xfrm>
            <a:off x="715601" y="2223501"/>
            <a:ext cx="11285599" cy="4428749"/>
          </a:xfrm>
          <a:prstGeom prst="rect">
            <a:avLst/>
          </a:prstGeom>
        </p:spPr>
        <p:txBody>
          <a:bodyPr lIns="0" tIns="0" rIns="0" bIns="0" rtlCol="0" anchor="t">
            <a:spAutoFit/>
          </a:bodyPr>
          <a:lstStyle/>
          <a:p>
            <a:pPr algn="r">
              <a:lnSpc>
                <a:spcPts val="11448"/>
              </a:lnSpc>
            </a:pPr>
            <a:r>
              <a:rPr lang="en-US" sz="10600" b="1" dirty="0">
                <a:solidFill>
                  <a:srgbClr val="FFFFFF"/>
                </a:solidFill>
                <a:latin typeface="Arimo Bold"/>
                <a:ea typeface="Arimo Bold"/>
                <a:cs typeface="Arimo Bold"/>
                <a:sym typeface="Arimo Bold"/>
              </a:rPr>
              <a:t>Predicting CO2 savings from renewables​</a:t>
            </a:r>
          </a:p>
        </p:txBody>
      </p:sp>
      <p:sp>
        <p:nvSpPr>
          <p:cNvPr id="13" name="TextBox 13"/>
          <p:cNvSpPr txBox="1"/>
          <p:nvPr/>
        </p:nvSpPr>
        <p:spPr>
          <a:xfrm>
            <a:off x="5217421" y="7032924"/>
            <a:ext cx="6727729" cy="781050"/>
          </a:xfrm>
          <a:prstGeom prst="rect">
            <a:avLst/>
          </a:prstGeom>
        </p:spPr>
        <p:txBody>
          <a:bodyPr lIns="0" tIns="0" rIns="0" bIns="0" rtlCol="0" anchor="t">
            <a:spAutoFit/>
          </a:bodyPr>
          <a:lstStyle/>
          <a:p>
            <a:pPr algn="ctr">
              <a:lnSpc>
                <a:spcPts val="3120"/>
              </a:lnSpc>
            </a:pPr>
            <a:r>
              <a:rPr lang="en-US" sz="2600">
                <a:solidFill>
                  <a:srgbClr val="FFFFFF"/>
                </a:solidFill>
                <a:latin typeface="Inter"/>
                <a:ea typeface="Inter"/>
                <a:cs typeface="Inter"/>
                <a:sym typeface="Inter"/>
              </a:rPr>
              <a:t>Dominika Filipiak, Emilia Velikova, Danu Cislaru, Kacper Grobelny, Filip Bičanić​</a:t>
            </a:r>
          </a:p>
        </p:txBody>
      </p:sp>
      <p:sp>
        <p:nvSpPr>
          <p:cNvPr id="14" name="Freeform 14"/>
          <p:cNvSpPr/>
          <p:nvPr/>
        </p:nvSpPr>
        <p:spPr>
          <a:xfrm>
            <a:off x="12441626" y="2726830"/>
            <a:ext cx="3526850" cy="4518540"/>
          </a:xfrm>
          <a:custGeom>
            <a:avLst/>
            <a:gdLst/>
            <a:ahLst/>
            <a:cxnLst/>
            <a:rect l="l" t="t" r="r" b="b"/>
            <a:pathLst>
              <a:path w="3526850" h="4518540">
                <a:moveTo>
                  <a:pt x="0" y="0"/>
                </a:moveTo>
                <a:lnTo>
                  <a:pt x="3526850" y="0"/>
                </a:lnTo>
                <a:lnTo>
                  <a:pt x="3526850" y="4518540"/>
                </a:lnTo>
                <a:lnTo>
                  <a:pt x="0" y="451854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pl-P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75754"/>
        </a:solidFill>
        <a:effectLst/>
      </p:bgPr>
    </p:bg>
    <p:spTree>
      <p:nvGrpSpPr>
        <p:cNvPr id="1" name=""/>
        <p:cNvGrpSpPr/>
        <p:nvPr/>
      </p:nvGrpSpPr>
      <p:grpSpPr>
        <a:xfrm>
          <a:off x="0" y="0"/>
          <a:ext cx="0" cy="0"/>
          <a:chOff x="0" y="0"/>
          <a:chExt cx="0" cy="0"/>
        </a:xfrm>
      </p:grpSpPr>
      <p:grpSp>
        <p:nvGrpSpPr>
          <p:cNvPr id="2" name="Group 2"/>
          <p:cNvGrpSpPr/>
          <p:nvPr/>
        </p:nvGrpSpPr>
        <p:grpSpPr>
          <a:xfrm>
            <a:off x="0" y="9208000"/>
            <a:ext cx="18288000" cy="1078800"/>
            <a:chOff x="0" y="0"/>
            <a:chExt cx="24384000" cy="1438400"/>
          </a:xfrm>
        </p:grpSpPr>
        <p:sp>
          <p:nvSpPr>
            <p:cNvPr id="3" name="Freeform 3"/>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p:cNvSpPr/>
          <p:nvPr/>
        </p:nvSpPr>
        <p:spPr>
          <a:xfrm rot="5400000">
            <a:off x="1502566" y="-1464408"/>
            <a:ext cx="1118936" cy="3651998"/>
          </a:xfrm>
          <a:custGeom>
            <a:avLst/>
            <a:gdLst/>
            <a:ahLst/>
            <a:cxnLst/>
            <a:rect l="l" t="t" r="r" b="b"/>
            <a:pathLst>
              <a:path w="1118936" h="3651998">
                <a:moveTo>
                  <a:pt x="0" y="0"/>
                </a:moveTo>
                <a:lnTo>
                  <a:pt x="1118936" y="0"/>
                </a:lnTo>
                <a:lnTo>
                  <a:pt x="1118936" y="3651998"/>
                </a:lnTo>
                <a:lnTo>
                  <a:pt x="0" y="3651998"/>
                </a:lnTo>
                <a:lnTo>
                  <a:pt x="0" y="0"/>
                </a:lnTo>
                <a:close/>
              </a:path>
            </a:pathLst>
          </a:custGeom>
          <a:blipFill>
            <a:blip r:embed="rId3"/>
            <a:stretch>
              <a:fillRect l="-1" r="-1"/>
            </a:stretch>
          </a:blipFill>
        </p:spPr>
        <p:txBody>
          <a:bodyPr/>
          <a:lstStyle/>
          <a:p>
            <a:endParaRPr lang="pl-PL"/>
          </a:p>
        </p:txBody>
      </p:sp>
      <p:sp>
        <p:nvSpPr>
          <p:cNvPr id="5" name="Freeform 5"/>
          <p:cNvSpPr/>
          <p:nvPr/>
        </p:nvSpPr>
        <p:spPr>
          <a:xfrm>
            <a:off x="17356150" y="921050"/>
            <a:ext cx="2752402" cy="2752402"/>
          </a:xfrm>
          <a:custGeom>
            <a:avLst/>
            <a:gdLst/>
            <a:ahLst/>
            <a:cxnLst/>
            <a:rect l="l" t="t" r="r" b="b"/>
            <a:pathLst>
              <a:path w="2752402" h="2752402">
                <a:moveTo>
                  <a:pt x="0" y="0"/>
                </a:moveTo>
                <a:lnTo>
                  <a:pt x="2752402" y="0"/>
                </a:lnTo>
                <a:lnTo>
                  <a:pt x="2752402" y="2752402"/>
                </a:lnTo>
                <a:lnTo>
                  <a:pt x="0" y="2752402"/>
                </a:lnTo>
                <a:lnTo>
                  <a:pt x="0" y="0"/>
                </a:lnTo>
                <a:close/>
              </a:path>
            </a:pathLst>
          </a:custGeom>
          <a:blipFill>
            <a:blip r:embed="rId4"/>
            <a:stretch>
              <a:fillRect/>
            </a:stretch>
          </a:blipFill>
        </p:spPr>
        <p:txBody>
          <a:bodyPr/>
          <a:lstStyle/>
          <a:p>
            <a:endParaRPr lang="pl-PL"/>
          </a:p>
        </p:txBody>
      </p:sp>
      <p:sp>
        <p:nvSpPr>
          <p:cNvPr id="6" name="Freeform 6"/>
          <p:cNvSpPr/>
          <p:nvPr/>
        </p:nvSpPr>
        <p:spPr>
          <a:xfrm>
            <a:off x="-910550" y="2224400"/>
            <a:ext cx="1842400" cy="1842400"/>
          </a:xfrm>
          <a:custGeom>
            <a:avLst/>
            <a:gdLst/>
            <a:ahLst/>
            <a:cxnLst/>
            <a:rect l="l" t="t" r="r" b="b"/>
            <a:pathLst>
              <a:path w="1842400" h="1842400">
                <a:moveTo>
                  <a:pt x="0" y="0"/>
                </a:moveTo>
                <a:lnTo>
                  <a:pt x="1842400" y="0"/>
                </a:lnTo>
                <a:lnTo>
                  <a:pt x="1842400" y="1842400"/>
                </a:lnTo>
                <a:lnTo>
                  <a:pt x="0" y="1842400"/>
                </a:lnTo>
                <a:lnTo>
                  <a:pt x="0" y="0"/>
                </a:lnTo>
                <a:close/>
              </a:path>
            </a:pathLst>
          </a:custGeom>
          <a:blipFill>
            <a:blip r:embed="rId5"/>
            <a:stretch>
              <a:fillRect/>
            </a:stretch>
          </a:blipFill>
        </p:spPr>
        <p:txBody>
          <a:bodyPr/>
          <a:lstStyle/>
          <a:p>
            <a:endParaRPr lang="pl-PL"/>
          </a:p>
        </p:txBody>
      </p:sp>
      <p:sp>
        <p:nvSpPr>
          <p:cNvPr id="7" name="Freeform 7"/>
          <p:cNvSpPr/>
          <p:nvPr/>
        </p:nvSpPr>
        <p:spPr>
          <a:xfrm>
            <a:off x="10272516" y="8806524"/>
            <a:ext cx="3657370" cy="3651952"/>
          </a:xfrm>
          <a:custGeom>
            <a:avLst/>
            <a:gdLst/>
            <a:ahLst/>
            <a:cxnLst/>
            <a:rect l="l" t="t" r="r" b="b"/>
            <a:pathLst>
              <a:path w="3657370" h="3651952">
                <a:moveTo>
                  <a:pt x="0" y="0"/>
                </a:moveTo>
                <a:lnTo>
                  <a:pt x="3657370" y="0"/>
                </a:lnTo>
                <a:lnTo>
                  <a:pt x="3657370" y="3651952"/>
                </a:lnTo>
                <a:lnTo>
                  <a:pt x="0" y="3651952"/>
                </a:lnTo>
                <a:lnTo>
                  <a:pt x="0" y="0"/>
                </a:lnTo>
                <a:close/>
              </a:path>
            </a:pathLst>
          </a:custGeom>
          <a:blipFill>
            <a:blip r:embed="rId6"/>
            <a:stretch>
              <a:fillRect/>
            </a:stretch>
          </a:blipFill>
        </p:spPr>
        <p:txBody>
          <a:bodyPr/>
          <a:lstStyle/>
          <a:p>
            <a:endParaRPr lang="pl-PL"/>
          </a:p>
        </p:txBody>
      </p:sp>
      <p:sp>
        <p:nvSpPr>
          <p:cNvPr id="8" name="Freeform 8"/>
          <p:cNvSpPr/>
          <p:nvPr/>
        </p:nvSpPr>
        <p:spPr>
          <a:xfrm>
            <a:off x="1426450" y="880650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7"/>
            <a:stretch>
              <a:fillRect/>
            </a:stretch>
          </a:blipFill>
        </p:spPr>
        <p:txBody>
          <a:bodyPr/>
          <a:lstStyle/>
          <a:p>
            <a:endParaRPr lang="pl-PL"/>
          </a:p>
        </p:txBody>
      </p:sp>
      <p:sp>
        <p:nvSpPr>
          <p:cNvPr id="9" name="Freeform 9"/>
          <p:cNvSpPr/>
          <p:nvPr/>
        </p:nvSpPr>
        <p:spPr>
          <a:xfrm>
            <a:off x="17679958" y="6634800"/>
            <a:ext cx="1118936" cy="3652002"/>
          </a:xfrm>
          <a:custGeom>
            <a:avLst/>
            <a:gdLst/>
            <a:ahLst/>
            <a:cxnLst/>
            <a:rect l="l" t="t" r="r" b="b"/>
            <a:pathLst>
              <a:path w="1118936" h="3652002">
                <a:moveTo>
                  <a:pt x="0" y="0"/>
                </a:moveTo>
                <a:lnTo>
                  <a:pt x="1118936" y="0"/>
                </a:lnTo>
                <a:lnTo>
                  <a:pt x="1118936" y="3652002"/>
                </a:lnTo>
                <a:lnTo>
                  <a:pt x="0" y="3652002"/>
                </a:lnTo>
                <a:lnTo>
                  <a:pt x="0" y="0"/>
                </a:lnTo>
                <a:close/>
              </a:path>
            </a:pathLst>
          </a:custGeom>
          <a:blipFill>
            <a:blip r:embed="rId3"/>
            <a:stretch>
              <a:fillRect l="-1" r="-1"/>
            </a:stretch>
          </a:blipFill>
        </p:spPr>
        <p:txBody>
          <a:bodyPr/>
          <a:lstStyle/>
          <a:p>
            <a:endParaRPr lang="pl-PL"/>
          </a:p>
        </p:txBody>
      </p:sp>
      <p:sp>
        <p:nvSpPr>
          <p:cNvPr id="10" name="Freeform 10"/>
          <p:cNvSpPr/>
          <p:nvPr/>
        </p:nvSpPr>
        <p:spPr>
          <a:xfrm>
            <a:off x="12743050" y="-2455550"/>
            <a:ext cx="3273000" cy="3273000"/>
          </a:xfrm>
          <a:custGeom>
            <a:avLst/>
            <a:gdLst/>
            <a:ahLst/>
            <a:cxnLst/>
            <a:rect l="l" t="t" r="r" b="b"/>
            <a:pathLst>
              <a:path w="3273000" h="3273000">
                <a:moveTo>
                  <a:pt x="0" y="0"/>
                </a:moveTo>
                <a:lnTo>
                  <a:pt x="3273000" y="0"/>
                </a:lnTo>
                <a:lnTo>
                  <a:pt x="3273000" y="3273000"/>
                </a:lnTo>
                <a:lnTo>
                  <a:pt x="0" y="3273000"/>
                </a:lnTo>
                <a:lnTo>
                  <a:pt x="0" y="0"/>
                </a:lnTo>
                <a:close/>
              </a:path>
            </a:pathLst>
          </a:custGeom>
          <a:blipFill>
            <a:blip r:embed="rId7"/>
            <a:stretch>
              <a:fillRect/>
            </a:stretch>
          </a:blipFill>
        </p:spPr>
        <p:txBody>
          <a:bodyPr/>
          <a:lstStyle/>
          <a:p>
            <a:endParaRPr lang="pl-PL"/>
          </a:p>
        </p:txBody>
      </p:sp>
      <p:sp>
        <p:nvSpPr>
          <p:cNvPr id="11" name="TextBox 11"/>
          <p:cNvSpPr txBox="1"/>
          <p:nvPr/>
        </p:nvSpPr>
        <p:spPr>
          <a:xfrm>
            <a:off x="2374028" y="3742080"/>
            <a:ext cx="13642022" cy="4702891"/>
          </a:xfrm>
          <a:prstGeom prst="rect">
            <a:avLst/>
          </a:prstGeom>
        </p:spPr>
        <p:txBody>
          <a:bodyPr lIns="0" tIns="0" rIns="0" bIns="0" rtlCol="0" anchor="t">
            <a:spAutoFit/>
          </a:bodyPr>
          <a:lstStyle/>
          <a:p>
            <a:pPr marL="732537" lvl="1" indent="-366268" algn="l">
              <a:lnSpc>
                <a:spcPts val="4071"/>
              </a:lnSpc>
              <a:buFont typeface="Arial"/>
              <a:buChar char="•"/>
            </a:pPr>
            <a:r>
              <a:rPr lang="en-US" sz="3392" dirty="0">
                <a:solidFill>
                  <a:srgbClr val="FFFFFF"/>
                </a:solidFill>
                <a:latin typeface="Inter"/>
                <a:ea typeface="Inter"/>
                <a:cs typeface="Arimo Bold" panose="020B0604020202020204" charset="0"/>
                <a:sym typeface="Inter"/>
              </a:rPr>
              <a:t>Energy production is one of the largest sources of global CO₂ emissions</a:t>
            </a:r>
          </a:p>
          <a:p>
            <a:pPr algn="l">
              <a:lnSpc>
                <a:spcPts val="4071"/>
              </a:lnSpc>
            </a:pPr>
            <a:r>
              <a:rPr lang="en-US" sz="3392" dirty="0">
                <a:solidFill>
                  <a:srgbClr val="FFFFFF"/>
                </a:solidFill>
                <a:latin typeface="Inter"/>
                <a:ea typeface="Inter"/>
                <a:cs typeface="Arimo Bold" panose="020B0604020202020204" charset="0"/>
                <a:sym typeface="Inter"/>
              </a:rPr>
              <a:t> ​</a:t>
            </a:r>
          </a:p>
          <a:p>
            <a:pPr marL="732537" lvl="1" indent="-366268" algn="l">
              <a:lnSpc>
                <a:spcPts val="4071"/>
              </a:lnSpc>
              <a:buFont typeface="Arial"/>
              <a:buChar char="•"/>
            </a:pPr>
            <a:r>
              <a:rPr lang="en-US" sz="3392" dirty="0">
                <a:solidFill>
                  <a:srgbClr val="FFFFFF"/>
                </a:solidFill>
                <a:latin typeface="Inter"/>
                <a:ea typeface="Inter"/>
                <a:cs typeface="Arimo Bold" panose="020B0604020202020204" charset="0"/>
                <a:sym typeface="Inter"/>
              </a:rPr>
              <a:t>Fossil fuels significantly contribute to climate change</a:t>
            </a:r>
            <a:endParaRPr lang="pl-PL" sz="3392" dirty="0">
              <a:solidFill>
                <a:srgbClr val="FFFFFF"/>
              </a:solidFill>
              <a:latin typeface="Inter"/>
              <a:ea typeface="Inter"/>
              <a:cs typeface="Arimo Bold" panose="020B0604020202020204" charset="0"/>
              <a:sym typeface="Inter"/>
            </a:endParaRPr>
          </a:p>
          <a:p>
            <a:pPr marL="732537" lvl="1" indent="-366268" algn="l">
              <a:lnSpc>
                <a:spcPts val="4071"/>
              </a:lnSpc>
              <a:buFont typeface="Arial"/>
              <a:buChar char="•"/>
            </a:pPr>
            <a:endParaRPr lang="en-US" sz="3392" dirty="0">
              <a:solidFill>
                <a:srgbClr val="FFFFFF"/>
              </a:solidFill>
              <a:latin typeface="Inter"/>
              <a:ea typeface="Inter"/>
              <a:cs typeface="Arimo Bold" panose="020B0604020202020204" charset="0"/>
              <a:sym typeface="Inter"/>
            </a:endParaRPr>
          </a:p>
          <a:p>
            <a:pPr marL="732537" lvl="1" indent="-366268" algn="l">
              <a:lnSpc>
                <a:spcPts val="4071"/>
              </a:lnSpc>
              <a:buFont typeface="Arial"/>
              <a:buChar char="•"/>
            </a:pPr>
            <a:r>
              <a:rPr lang="en-US" sz="3392" dirty="0">
                <a:solidFill>
                  <a:srgbClr val="FFFFFF"/>
                </a:solidFill>
                <a:latin typeface="Inter"/>
                <a:ea typeface="Inter"/>
                <a:cs typeface="Arimo Bold" panose="020B0604020202020204" charset="0"/>
                <a:sym typeface="Inter"/>
              </a:rPr>
              <a:t>Renewable energy reduces emissions by replacing fossil fuel generation ​</a:t>
            </a:r>
          </a:p>
          <a:p>
            <a:pPr algn="l">
              <a:lnSpc>
                <a:spcPts val="4071"/>
              </a:lnSpc>
            </a:pPr>
            <a:r>
              <a:rPr lang="en-US" sz="3392" dirty="0">
                <a:solidFill>
                  <a:srgbClr val="FFFFFF"/>
                </a:solidFill>
                <a:latin typeface="Inter"/>
                <a:ea typeface="Inter"/>
                <a:cs typeface="Arimo Bold" panose="020B0604020202020204" charset="0"/>
                <a:sym typeface="Inter"/>
              </a:rPr>
              <a:t>​</a:t>
            </a:r>
          </a:p>
          <a:p>
            <a:pPr algn="l">
              <a:lnSpc>
                <a:spcPts val="4071"/>
              </a:lnSpc>
            </a:pPr>
            <a:endParaRPr lang="en-US" sz="3392" dirty="0">
              <a:solidFill>
                <a:srgbClr val="FFFFFF"/>
              </a:solidFill>
              <a:latin typeface="Inter"/>
              <a:ea typeface="Inter"/>
              <a:cs typeface="Arimo Bold" panose="020B0604020202020204" charset="0"/>
              <a:sym typeface="Inter"/>
            </a:endParaRPr>
          </a:p>
        </p:txBody>
      </p:sp>
      <p:sp>
        <p:nvSpPr>
          <p:cNvPr id="12" name="TextBox 12"/>
          <p:cNvSpPr txBox="1"/>
          <p:nvPr/>
        </p:nvSpPr>
        <p:spPr>
          <a:xfrm>
            <a:off x="1891425" y="1132325"/>
            <a:ext cx="14505150" cy="1733550"/>
          </a:xfrm>
          <a:prstGeom prst="rect">
            <a:avLst/>
          </a:prstGeom>
        </p:spPr>
        <p:txBody>
          <a:bodyPr lIns="0" tIns="0" rIns="0" bIns="0" rtlCol="0" anchor="t">
            <a:spAutoFit/>
          </a:bodyPr>
          <a:lstStyle/>
          <a:p>
            <a:pPr algn="ctr">
              <a:lnSpc>
                <a:spcPts val="6719"/>
              </a:lnSpc>
            </a:pPr>
            <a:r>
              <a:rPr lang="en-US" sz="5599" b="1" dirty="0">
                <a:solidFill>
                  <a:srgbClr val="FFFFFF"/>
                </a:solidFill>
                <a:latin typeface="Arimo Bold"/>
                <a:ea typeface="Arimo Bold"/>
                <a:cs typeface="Arimo Bold"/>
                <a:sym typeface="Arimo Bold"/>
              </a:rPr>
              <a:t>Why Do CO₂ Savings from Renewables Matter?​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95D3B-7E70-123E-ADB6-1D6802F275D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A230074-8FC4-9C71-C2EC-BE9BC05B66BE}"/>
              </a:ext>
            </a:extLst>
          </p:cNvPr>
          <p:cNvGrpSpPr/>
          <p:nvPr/>
        </p:nvGrpSpPr>
        <p:grpSpPr>
          <a:xfrm>
            <a:off x="0" y="9208000"/>
            <a:ext cx="18288000" cy="1078800"/>
            <a:chOff x="0" y="0"/>
            <a:chExt cx="24384000" cy="1438400"/>
          </a:xfrm>
        </p:grpSpPr>
        <p:sp>
          <p:nvSpPr>
            <p:cNvPr id="3" name="Freeform 3">
              <a:extLst>
                <a:ext uri="{FF2B5EF4-FFF2-40B4-BE49-F238E27FC236}">
                  <a16:creationId xmlns:a16="http://schemas.microsoft.com/office/drawing/2014/main" id="{8EA997BE-6BD2-4D3E-1D83-5D09C2939F61}"/>
                </a:ext>
              </a:extLst>
            </p:cNvPr>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a:extLst>
              <a:ext uri="{FF2B5EF4-FFF2-40B4-BE49-F238E27FC236}">
                <a16:creationId xmlns:a16="http://schemas.microsoft.com/office/drawing/2014/main" id="{CE89E188-3C95-B776-52E0-F144E9044B92}"/>
              </a:ext>
            </a:extLst>
          </p:cNvPr>
          <p:cNvSpPr/>
          <p:nvPr/>
        </p:nvSpPr>
        <p:spPr>
          <a:xfrm rot="5400000">
            <a:off x="1502566" y="-1464408"/>
            <a:ext cx="1118936" cy="3651998"/>
          </a:xfrm>
          <a:custGeom>
            <a:avLst/>
            <a:gdLst/>
            <a:ahLst/>
            <a:cxnLst/>
            <a:rect l="l" t="t" r="r" b="b"/>
            <a:pathLst>
              <a:path w="1118936" h="3651998">
                <a:moveTo>
                  <a:pt x="0" y="0"/>
                </a:moveTo>
                <a:lnTo>
                  <a:pt x="1118936" y="0"/>
                </a:lnTo>
                <a:lnTo>
                  <a:pt x="1118936" y="3651998"/>
                </a:lnTo>
                <a:lnTo>
                  <a:pt x="0" y="3651998"/>
                </a:lnTo>
                <a:lnTo>
                  <a:pt x="0" y="0"/>
                </a:lnTo>
                <a:close/>
              </a:path>
            </a:pathLst>
          </a:custGeom>
          <a:blipFill>
            <a:blip r:embed="rId3"/>
            <a:stretch>
              <a:fillRect l="-1" r="-1"/>
            </a:stretch>
          </a:blipFill>
        </p:spPr>
        <p:txBody>
          <a:bodyPr/>
          <a:lstStyle/>
          <a:p>
            <a:endParaRPr lang="pl-PL"/>
          </a:p>
        </p:txBody>
      </p:sp>
      <p:sp>
        <p:nvSpPr>
          <p:cNvPr id="5" name="Freeform 5">
            <a:extLst>
              <a:ext uri="{FF2B5EF4-FFF2-40B4-BE49-F238E27FC236}">
                <a16:creationId xmlns:a16="http://schemas.microsoft.com/office/drawing/2014/main" id="{7E1CF743-213C-334F-613C-A7F0B75D0B24}"/>
              </a:ext>
            </a:extLst>
          </p:cNvPr>
          <p:cNvSpPr/>
          <p:nvPr/>
        </p:nvSpPr>
        <p:spPr>
          <a:xfrm>
            <a:off x="17356150" y="921050"/>
            <a:ext cx="2752402" cy="2752402"/>
          </a:xfrm>
          <a:custGeom>
            <a:avLst/>
            <a:gdLst/>
            <a:ahLst/>
            <a:cxnLst/>
            <a:rect l="l" t="t" r="r" b="b"/>
            <a:pathLst>
              <a:path w="2752402" h="2752402">
                <a:moveTo>
                  <a:pt x="0" y="0"/>
                </a:moveTo>
                <a:lnTo>
                  <a:pt x="2752402" y="0"/>
                </a:lnTo>
                <a:lnTo>
                  <a:pt x="2752402" y="2752402"/>
                </a:lnTo>
                <a:lnTo>
                  <a:pt x="0" y="2752402"/>
                </a:lnTo>
                <a:lnTo>
                  <a:pt x="0" y="0"/>
                </a:lnTo>
                <a:close/>
              </a:path>
            </a:pathLst>
          </a:custGeom>
          <a:blipFill>
            <a:blip r:embed="rId4"/>
            <a:stretch>
              <a:fillRect/>
            </a:stretch>
          </a:blipFill>
        </p:spPr>
        <p:txBody>
          <a:bodyPr/>
          <a:lstStyle/>
          <a:p>
            <a:endParaRPr lang="pl-PL"/>
          </a:p>
        </p:txBody>
      </p:sp>
      <p:sp>
        <p:nvSpPr>
          <p:cNvPr id="6" name="Freeform 6">
            <a:extLst>
              <a:ext uri="{FF2B5EF4-FFF2-40B4-BE49-F238E27FC236}">
                <a16:creationId xmlns:a16="http://schemas.microsoft.com/office/drawing/2014/main" id="{1DC9499B-B5C7-1D7C-8545-0F7271FDA719}"/>
              </a:ext>
            </a:extLst>
          </p:cNvPr>
          <p:cNvSpPr/>
          <p:nvPr/>
        </p:nvSpPr>
        <p:spPr>
          <a:xfrm>
            <a:off x="-910550" y="2224400"/>
            <a:ext cx="1842400" cy="1842400"/>
          </a:xfrm>
          <a:custGeom>
            <a:avLst/>
            <a:gdLst/>
            <a:ahLst/>
            <a:cxnLst/>
            <a:rect l="l" t="t" r="r" b="b"/>
            <a:pathLst>
              <a:path w="1842400" h="1842400">
                <a:moveTo>
                  <a:pt x="0" y="0"/>
                </a:moveTo>
                <a:lnTo>
                  <a:pt x="1842400" y="0"/>
                </a:lnTo>
                <a:lnTo>
                  <a:pt x="1842400" y="1842400"/>
                </a:lnTo>
                <a:lnTo>
                  <a:pt x="0" y="1842400"/>
                </a:lnTo>
                <a:lnTo>
                  <a:pt x="0" y="0"/>
                </a:lnTo>
                <a:close/>
              </a:path>
            </a:pathLst>
          </a:custGeom>
          <a:blipFill>
            <a:blip r:embed="rId5"/>
            <a:stretch>
              <a:fillRect/>
            </a:stretch>
          </a:blipFill>
        </p:spPr>
        <p:txBody>
          <a:bodyPr/>
          <a:lstStyle/>
          <a:p>
            <a:endParaRPr lang="pl-PL"/>
          </a:p>
        </p:txBody>
      </p:sp>
      <p:sp>
        <p:nvSpPr>
          <p:cNvPr id="7" name="Freeform 7">
            <a:extLst>
              <a:ext uri="{FF2B5EF4-FFF2-40B4-BE49-F238E27FC236}">
                <a16:creationId xmlns:a16="http://schemas.microsoft.com/office/drawing/2014/main" id="{26AE7E73-995D-DA97-FC3F-35A5CF961DA3}"/>
              </a:ext>
            </a:extLst>
          </p:cNvPr>
          <p:cNvSpPr/>
          <p:nvPr/>
        </p:nvSpPr>
        <p:spPr>
          <a:xfrm>
            <a:off x="10272516" y="8806524"/>
            <a:ext cx="3657370" cy="3651952"/>
          </a:xfrm>
          <a:custGeom>
            <a:avLst/>
            <a:gdLst/>
            <a:ahLst/>
            <a:cxnLst/>
            <a:rect l="l" t="t" r="r" b="b"/>
            <a:pathLst>
              <a:path w="3657370" h="3651952">
                <a:moveTo>
                  <a:pt x="0" y="0"/>
                </a:moveTo>
                <a:lnTo>
                  <a:pt x="3657370" y="0"/>
                </a:lnTo>
                <a:lnTo>
                  <a:pt x="3657370" y="3651952"/>
                </a:lnTo>
                <a:lnTo>
                  <a:pt x="0" y="3651952"/>
                </a:lnTo>
                <a:lnTo>
                  <a:pt x="0" y="0"/>
                </a:lnTo>
                <a:close/>
              </a:path>
            </a:pathLst>
          </a:custGeom>
          <a:blipFill>
            <a:blip r:embed="rId6"/>
            <a:stretch>
              <a:fillRect/>
            </a:stretch>
          </a:blipFill>
        </p:spPr>
        <p:txBody>
          <a:bodyPr/>
          <a:lstStyle/>
          <a:p>
            <a:endParaRPr lang="pl-PL"/>
          </a:p>
        </p:txBody>
      </p:sp>
      <p:sp>
        <p:nvSpPr>
          <p:cNvPr id="8" name="Freeform 8">
            <a:extLst>
              <a:ext uri="{FF2B5EF4-FFF2-40B4-BE49-F238E27FC236}">
                <a16:creationId xmlns:a16="http://schemas.microsoft.com/office/drawing/2014/main" id="{DB18B230-5E4F-6AF4-65D4-38728F3ED111}"/>
              </a:ext>
            </a:extLst>
          </p:cNvPr>
          <p:cNvSpPr/>
          <p:nvPr/>
        </p:nvSpPr>
        <p:spPr>
          <a:xfrm>
            <a:off x="1426450" y="880650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7"/>
            <a:stretch>
              <a:fillRect/>
            </a:stretch>
          </a:blipFill>
        </p:spPr>
        <p:txBody>
          <a:bodyPr/>
          <a:lstStyle/>
          <a:p>
            <a:endParaRPr lang="pl-PL"/>
          </a:p>
        </p:txBody>
      </p:sp>
      <p:sp>
        <p:nvSpPr>
          <p:cNvPr id="9" name="Freeform 9">
            <a:extLst>
              <a:ext uri="{FF2B5EF4-FFF2-40B4-BE49-F238E27FC236}">
                <a16:creationId xmlns:a16="http://schemas.microsoft.com/office/drawing/2014/main" id="{341BEBB6-9756-8CB8-E0FE-1771F4E35C07}"/>
              </a:ext>
            </a:extLst>
          </p:cNvPr>
          <p:cNvSpPr/>
          <p:nvPr/>
        </p:nvSpPr>
        <p:spPr>
          <a:xfrm>
            <a:off x="17679958" y="6634800"/>
            <a:ext cx="1118936" cy="3652002"/>
          </a:xfrm>
          <a:custGeom>
            <a:avLst/>
            <a:gdLst/>
            <a:ahLst/>
            <a:cxnLst/>
            <a:rect l="l" t="t" r="r" b="b"/>
            <a:pathLst>
              <a:path w="1118936" h="3652002">
                <a:moveTo>
                  <a:pt x="0" y="0"/>
                </a:moveTo>
                <a:lnTo>
                  <a:pt x="1118936" y="0"/>
                </a:lnTo>
                <a:lnTo>
                  <a:pt x="1118936" y="3652002"/>
                </a:lnTo>
                <a:lnTo>
                  <a:pt x="0" y="3652002"/>
                </a:lnTo>
                <a:lnTo>
                  <a:pt x="0" y="0"/>
                </a:lnTo>
                <a:close/>
              </a:path>
            </a:pathLst>
          </a:custGeom>
          <a:blipFill>
            <a:blip r:embed="rId3"/>
            <a:stretch>
              <a:fillRect l="-1" r="-1"/>
            </a:stretch>
          </a:blipFill>
        </p:spPr>
        <p:txBody>
          <a:bodyPr/>
          <a:lstStyle/>
          <a:p>
            <a:endParaRPr lang="pl-PL"/>
          </a:p>
        </p:txBody>
      </p:sp>
      <p:sp>
        <p:nvSpPr>
          <p:cNvPr id="10" name="Freeform 10">
            <a:extLst>
              <a:ext uri="{FF2B5EF4-FFF2-40B4-BE49-F238E27FC236}">
                <a16:creationId xmlns:a16="http://schemas.microsoft.com/office/drawing/2014/main" id="{B40A0A28-9328-BF94-F0DF-4BD087E8592F}"/>
              </a:ext>
            </a:extLst>
          </p:cNvPr>
          <p:cNvSpPr/>
          <p:nvPr/>
        </p:nvSpPr>
        <p:spPr>
          <a:xfrm>
            <a:off x="12743050" y="-2455550"/>
            <a:ext cx="3273000" cy="3273000"/>
          </a:xfrm>
          <a:custGeom>
            <a:avLst/>
            <a:gdLst/>
            <a:ahLst/>
            <a:cxnLst/>
            <a:rect l="l" t="t" r="r" b="b"/>
            <a:pathLst>
              <a:path w="3273000" h="3273000">
                <a:moveTo>
                  <a:pt x="0" y="0"/>
                </a:moveTo>
                <a:lnTo>
                  <a:pt x="3273000" y="0"/>
                </a:lnTo>
                <a:lnTo>
                  <a:pt x="3273000" y="3273000"/>
                </a:lnTo>
                <a:lnTo>
                  <a:pt x="0" y="3273000"/>
                </a:lnTo>
                <a:lnTo>
                  <a:pt x="0" y="0"/>
                </a:lnTo>
                <a:close/>
              </a:path>
            </a:pathLst>
          </a:custGeom>
          <a:blipFill>
            <a:blip r:embed="rId7"/>
            <a:stretch>
              <a:fillRect/>
            </a:stretch>
          </a:blipFill>
        </p:spPr>
        <p:txBody>
          <a:bodyPr/>
          <a:lstStyle/>
          <a:p>
            <a:endParaRPr lang="pl-PL"/>
          </a:p>
        </p:txBody>
      </p:sp>
      <p:sp>
        <p:nvSpPr>
          <p:cNvPr id="11" name="TextBox 11">
            <a:extLst>
              <a:ext uri="{FF2B5EF4-FFF2-40B4-BE49-F238E27FC236}">
                <a16:creationId xmlns:a16="http://schemas.microsoft.com/office/drawing/2014/main" id="{A7B37B55-489F-79F1-0FEB-988A3481F458}"/>
              </a:ext>
            </a:extLst>
          </p:cNvPr>
          <p:cNvSpPr txBox="1"/>
          <p:nvPr/>
        </p:nvSpPr>
        <p:spPr>
          <a:xfrm>
            <a:off x="2374028" y="3742080"/>
            <a:ext cx="13642022" cy="3282950"/>
          </a:xfrm>
          <a:prstGeom prst="rect">
            <a:avLst/>
          </a:prstGeom>
        </p:spPr>
        <p:txBody>
          <a:bodyPr lIns="0" tIns="0" rIns="0" bIns="0" rtlCol="0" anchor="t">
            <a:spAutoFit/>
          </a:bodyPr>
          <a:lstStyle/>
          <a:p>
            <a:pPr marL="937769" lvl="1" indent="-571500">
              <a:spcBef>
                <a:spcPts val="1000"/>
              </a:spcBef>
              <a:buClr>
                <a:schemeClr val="bg2">
                  <a:lumMod val="40000"/>
                  <a:lumOff val="60000"/>
                </a:schemeClr>
              </a:buClr>
              <a:buSzPct val="80000"/>
              <a:buFont typeface="Arial" panose="020B0604020202020204" pitchFamily="34" charset="0"/>
              <a:buChar char="•"/>
            </a:pPr>
            <a:r>
              <a:rPr lang="en-US" sz="3600" dirty="0">
                <a:latin typeface="Inter" panose="020B0604020202020204" charset="0"/>
                <a:ea typeface="Inter" panose="020B0604020202020204" charset="0"/>
                <a:sym typeface="Inter"/>
              </a:rPr>
              <a:t>Predict CO emissions per kWh using machine learning</a:t>
            </a:r>
            <a:endParaRPr lang="pl-PL" sz="3600" dirty="0">
              <a:latin typeface="Inter" panose="020B0604020202020204" charset="0"/>
              <a:ea typeface="Inter" panose="020B0604020202020204" charset="0"/>
              <a:sym typeface="Inter"/>
            </a:endParaRPr>
          </a:p>
          <a:p>
            <a:pPr marL="937769" lvl="1" indent="-571500">
              <a:spcBef>
                <a:spcPts val="1000"/>
              </a:spcBef>
              <a:buClr>
                <a:schemeClr val="bg2">
                  <a:lumMod val="40000"/>
                  <a:lumOff val="60000"/>
                </a:schemeClr>
              </a:buClr>
              <a:buSzPct val="80000"/>
              <a:buFont typeface="Arial" panose="020B0604020202020204" pitchFamily="34" charset="0"/>
              <a:buChar char="•"/>
            </a:pPr>
            <a:endParaRPr lang="en-US" sz="3600" dirty="0">
              <a:latin typeface="Inter" panose="020B0604020202020204" charset="0"/>
              <a:ea typeface="Inter" panose="020B0604020202020204" charset="0"/>
              <a:sym typeface="Inter"/>
            </a:endParaRPr>
          </a:p>
          <a:p>
            <a:pPr marL="937769" lvl="1" indent="-571500">
              <a:spcBef>
                <a:spcPts val="1000"/>
              </a:spcBef>
              <a:buClr>
                <a:schemeClr val="bg2">
                  <a:lumMod val="40000"/>
                  <a:lumOff val="60000"/>
                </a:schemeClr>
              </a:buClr>
              <a:buSzPct val="80000"/>
              <a:buFont typeface="Arial" panose="020B0604020202020204" pitchFamily="34" charset="0"/>
              <a:buChar char="•"/>
            </a:pPr>
            <a:r>
              <a:rPr lang="en-US" sz="3600" dirty="0">
                <a:latin typeface="Inter" panose="020B0604020202020204" charset="0"/>
                <a:ea typeface="Inter" panose="020B0604020202020204" charset="0"/>
                <a:sym typeface="Inter"/>
              </a:rPr>
              <a:t>Analyze how different energy sources affect emissions</a:t>
            </a:r>
            <a:endParaRPr lang="pl-PL" sz="3600" dirty="0">
              <a:latin typeface="Inter" panose="020B0604020202020204" charset="0"/>
              <a:ea typeface="Inter" panose="020B0604020202020204" charset="0"/>
              <a:sym typeface="Inter"/>
            </a:endParaRPr>
          </a:p>
          <a:p>
            <a:pPr marL="937769" lvl="1" indent="-571500">
              <a:spcBef>
                <a:spcPts val="1000"/>
              </a:spcBef>
              <a:buClr>
                <a:schemeClr val="bg2">
                  <a:lumMod val="40000"/>
                  <a:lumOff val="60000"/>
                </a:schemeClr>
              </a:buClr>
              <a:buSzPct val="80000"/>
              <a:buFont typeface="Arial" panose="020B0604020202020204" pitchFamily="34" charset="0"/>
              <a:buChar char="•"/>
            </a:pPr>
            <a:endParaRPr lang="en-US" sz="3600" dirty="0">
              <a:latin typeface="Inter" panose="020B0604020202020204" charset="0"/>
              <a:ea typeface="Inter" panose="020B0604020202020204" charset="0"/>
              <a:sym typeface="Inter"/>
            </a:endParaRPr>
          </a:p>
          <a:p>
            <a:pPr marL="937769" lvl="1" indent="-571500">
              <a:spcBef>
                <a:spcPts val="1000"/>
              </a:spcBef>
              <a:buClr>
                <a:schemeClr val="bg2">
                  <a:lumMod val="40000"/>
                  <a:lumOff val="60000"/>
                </a:schemeClr>
              </a:buClr>
              <a:buSzPct val="80000"/>
              <a:buFont typeface="Arial" panose="020B0604020202020204" pitchFamily="34" charset="0"/>
              <a:buChar char="•"/>
            </a:pPr>
            <a:r>
              <a:rPr lang="en-US" sz="3600" dirty="0">
                <a:latin typeface="Inter" panose="020B0604020202020204" charset="0"/>
                <a:ea typeface="Inter" panose="020B0604020202020204" charset="0"/>
                <a:sym typeface="Inter"/>
              </a:rPr>
              <a:t>Identify which energy sources are the most impactful</a:t>
            </a:r>
          </a:p>
        </p:txBody>
      </p:sp>
      <p:sp>
        <p:nvSpPr>
          <p:cNvPr id="12" name="TextBox 12">
            <a:extLst>
              <a:ext uri="{FF2B5EF4-FFF2-40B4-BE49-F238E27FC236}">
                <a16:creationId xmlns:a16="http://schemas.microsoft.com/office/drawing/2014/main" id="{603F9D21-FEE1-28EF-970E-BFA9CB504FE5}"/>
              </a:ext>
            </a:extLst>
          </p:cNvPr>
          <p:cNvSpPr txBox="1"/>
          <p:nvPr/>
        </p:nvSpPr>
        <p:spPr>
          <a:xfrm>
            <a:off x="1891425" y="1132325"/>
            <a:ext cx="14505150" cy="923330"/>
          </a:xfrm>
          <a:prstGeom prst="rect">
            <a:avLst/>
          </a:prstGeom>
        </p:spPr>
        <p:txBody>
          <a:bodyPr lIns="0" tIns="0" rIns="0" bIns="0" rtlCol="0" anchor="t">
            <a:spAutoFit/>
          </a:bodyPr>
          <a:lstStyle/>
          <a:p>
            <a:pPr algn="ctr">
              <a:spcBef>
                <a:spcPct val="0"/>
              </a:spcBef>
              <a:spcAft>
                <a:spcPts val="600"/>
              </a:spcAft>
            </a:pPr>
            <a:r>
              <a:rPr lang="pl-PL" sz="6000" b="1" dirty="0">
                <a:solidFill>
                  <a:schemeClr val="tx2"/>
                </a:solidFill>
                <a:latin typeface="Arimo Bold" panose="020B0604020202020204" charset="0"/>
                <a:ea typeface="Arimo Bold" panose="020B0604020202020204" charset="0"/>
                <a:cs typeface="Arimo Bold" panose="020B0604020202020204" charset="0"/>
                <a:sym typeface="Arimo Bold"/>
              </a:rPr>
              <a:t>Project </a:t>
            </a:r>
            <a:r>
              <a:rPr lang="pl-PL" sz="6000" b="1" dirty="0" err="1">
                <a:solidFill>
                  <a:schemeClr val="tx2"/>
                </a:solidFill>
                <a:latin typeface="Arimo Bold" panose="020B0604020202020204" charset="0"/>
                <a:ea typeface="Arimo Bold" panose="020B0604020202020204" charset="0"/>
                <a:cs typeface="Arimo Bold" panose="020B0604020202020204" charset="0"/>
                <a:sym typeface="Arimo Bold"/>
              </a:rPr>
              <a:t>Goal</a:t>
            </a:r>
            <a:endParaRPr lang="en-US" sz="6000" b="1" dirty="0">
              <a:solidFill>
                <a:schemeClr val="tx2"/>
              </a:solidFill>
              <a:latin typeface="Arimo Bold" panose="020B0604020202020204" charset="0"/>
              <a:ea typeface="Arimo Bold" panose="020B0604020202020204" charset="0"/>
              <a:cs typeface="Arimo Bold" panose="020B0604020202020204" charset="0"/>
              <a:sym typeface="Arimo Bold"/>
            </a:endParaRPr>
          </a:p>
        </p:txBody>
      </p:sp>
    </p:spTree>
    <p:extLst>
      <p:ext uri="{BB962C8B-B14F-4D97-AF65-F5344CB8AC3E}">
        <p14:creationId xmlns:p14="http://schemas.microsoft.com/office/powerpoint/2010/main" val="3639322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4004527"/>
            <a:ext cx="6055518" cy="6282473"/>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4338520"/>
            <a:ext cx="2283618" cy="3548180"/>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13518" y="2514600"/>
            <a:ext cx="4229100" cy="42291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1999118" y="0"/>
            <a:ext cx="2405080" cy="1712110"/>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2908817" y="9144000"/>
            <a:ext cx="1490601" cy="1143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extBox 12">
            <a:extLst>
              <a:ext uri="{FF2B5EF4-FFF2-40B4-BE49-F238E27FC236}">
                <a16:creationId xmlns:a16="http://schemas.microsoft.com/office/drawing/2014/main" id="{7C6355A1-8B19-1030-8766-B908C309234E}"/>
              </a:ext>
            </a:extLst>
          </p:cNvPr>
          <p:cNvSpPr txBox="1"/>
          <p:nvPr/>
        </p:nvSpPr>
        <p:spPr>
          <a:xfrm>
            <a:off x="973395" y="943899"/>
            <a:ext cx="9282285" cy="1151601"/>
          </a:xfrm>
          <a:prstGeom prst="rect">
            <a:avLst/>
          </a:prstGeom>
        </p:spPr>
        <p:txBody>
          <a:bodyPr vert="horz" lIns="91440" tIns="45720" rIns="91440" bIns="45720" rtlCol="0" anchor="t">
            <a:normAutofit/>
          </a:bodyPr>
          <a:lstStyle/>
          <a:p>
            <a:pPr>
              <a:spcBef>
                <a:spcPct val="0"/>
              </a:spcBef>
              <a:spcAft>
                <a:spcPts val="600"/>
              </a:spcAft>
            </a:pPr>
            <a:r>
              <a:rPr lang="en-US" sz="5400" b="1" dirty="0">
                <a:solidFill>
                  <a:srgbClr val="EBEBEB"/>
                </a:solidFill>
                <a:latin typeface="Arimo Bold" panose="020B0604020202020204" charset="0"/>
                <a:ea typeface="Arimo Bold" panose="020B0604020202020204" charset="0"/>
                <a:cs typeface="Arimo Bold" panose="020B0604020202020204" charset="0"/>
                <a:sym typeface="Arimo Bold"/>
              </a:rPr>
              <a:t>Research Objective​</a:t>
            </a:r>
          </a:p>
        </p:txBody>
      </p:sp>
      <p:sp>
        <p:nvSpPr>
          <p:cNvPr id="3" name="TextBox 11">
            <a:extLst>
              <a:ext uri="{FF2B5EF4-FFF2-40B4-BE49-F238E27FC236}">
                <a16:creationId xmlns:a16="http://schemas.microsoft.com/office/drawing/2014/main" id="{3171D342-EDD4-B4A6-EEB2-0BD22190C89E}"/>
              </a:ext>
            </a:extLst>
          </p:cNvPr>
          <p:cNvSpPr txBox="1"/>
          <p:nvPr/>
        </p:nvSpPr>
        <p:spPr>
          <a:xfrm>
            <a:off x="719401" y="3009900"/>
            <a:ext cx="9282283" cy="5678128"/>
          </a:xfrm>
          <a:prstGeom prst="rect">
            <a:avLst/>
          </a:prstGeom>
        </p:spPr>
        <p:txBody>
          <a:bodyPr vert="horz" lIns="91440" tIns="45720" rIns="91440" bIns="45720" rtlCol="0">
            <a:normAutofit/>
          </a:bodyPr>
          <a:lstStyle/>
          <a:p>
            <a:pPr marL="732537" lvl="1" indent="-366268">
              <a:spcBef>
                <a:spcPts val="1000"/>
              </a:spcBef>
              <a:buClr>
                <a:schemeClr val="bg2">
                  <a:lumMod val="40000"/>
                  <a:lumOff val="60000"/>
                </a:schemeClr>
              </a:buClr>
              <a:buSzPct val="80000"/>
              <a:buFont typeface="Wingdings 3" charset="2"/>
              <a:buChar char=""/>
            </a:pPr>
            <a:r>
              <a:rPr lang="en-US" sz="2800" dirty="0">
                <a:solidFill>
                  <a:srgbClr val="FFFFFF"/>
                </a:solidFill>
                <a:latin typeface="Inter" panose="020B0604020202020204" charset="0"/>
                <a:ea typeface="Inter" panose="020B0604020202020204" charset="0"/>
                <a:cs typeface="+mj-cs"/>
                <a:sym typeface="Inter"/>
              </a:rPr>
              <a:t>Quantify how much CO₂ emissions are avoided by renewable energy production ​</a:t>
            </a:r>
          </a:p>
          <a:p>
            <a:pPr>
              <a:spcBef>
                <a:spcPts val="1000"/>
              </a:spcBef>
              <a:buClr>
                <a:schemeClr val="bg2">
                  <a:lumMod val="40000"/>
                  <a:lumOff val="60000"/>
                </a:schemeClr>
              </a:buClr>
              <a:buSzPct val="80000"/>
              <a:buFont typeface="Wingdings 3" charset="2"/>
              <a:buChar char=""/>
            </a:pPr>
            <a:endParaRPr lang="en-US" sz="2800" dirty="0">
              <a:solidFill>
                <a:srgbClr val="FFFFFF"/>
              </a:solidFill>
              <a:latin typeface="Inter" panose="020B0604020202020204" charset="0"/>
              <a:ea typeface="Inter" panose="020B0604020202020204" charset="0"/>
              <a:cs typeface="+mj-cs"/>
              <a:sym typeface="Inter"/>
            </a:endParaRPr>
          </a:p>
          <a:p>
            <a:pPr marL="732537" lvl="1" indent="-366268">
              <a:spcBef>
                <a:spcPts val="1000"/>
              </a:spcBef>
              <a:buClr>
                <a:schemeClr val="bg2">
                  <a:lumMod val="40000"/>
                  <a:lumOff val="60000"/>
                </a:schemeClr>
              </a:buClr>
              <a:buSzPct val="80000"/>
              <a:buFont typeface="Wingdings 3" charset="2"/>
              <a:buChar char=""/>
            </a:pPr>
            <a:r>
              <a:rPr lang="en-US" sz="2800" dirty="0">
                <a:solidFill>
                  <a:srgbClr val="FFFFFF"/>
                </a:solidFill>
                <a:latin typeface="Inter" panose="020B0604020202020204" charset="0"/>
                <a:ea typeface="Inter" panose="020B0604020202020204" charset="0"/>
                <a:cs typeface="+mj-cs"/>
                <a:sym typeface="Inter"/>
              </a:rPr>
              <a:t>Analyze the relationship between renewable share (%) and CO₂ savings</a:t>
            </a:r>
          </a:p>
          <a:p>
            <a:pPr>
              <a:spcBef>
                <a:spcPts val="1000"/>
              </a:spcBef>
              <a:buClr>
                <a:schemeClr val="bg2">
                  <a:lumMod val="40000"/>
                  <a:lumOff val="60000"/>
                </a:schemeClr>
              </a:buClr>
              <a:buSzPct val="80000"/>
            </a:pPr>
            <a:endParaRPr lang="en-US" sz="2800" dirty="0">
              <a:solidFill>
                <a:srgbClr val="FFFFFF"/>
              </a:solidFill>
              <a:latin typeface="Inter" panose="020B0604020202020204" charset="0"/>
              <a:ea typeface="Inter" panose="020B0604020202020204" charset="0"/>
              <a:cs typeface="+mj-cs"/>
              <a:sym typeface="Inter"/>
            </a:endParaRPr>
          </a:p>
          <a:p>
            <a:pPr marL="732537" lvl="1" indent="-366268">
              <a:spcBef>
                <a:spcPts val="1000"/>
              </a:spcBef>
              <a:buClr>
                <a:schemeClr val="bg2">
                  <a:lumMod val="40000"/>
                  <a:lumOff val="60000"/>
                </a:schemeClr>
              </a:buClr>
              <a:buSzPct val="80000"/>
              <a:buFont typeface="Wingdings 3" charset="2"/>
              <a:buChar char=""/>
            </a:pPr>
            <a:r>
              <a:rPr lang="en-US" sz="2800" dirty="0">
                <a:solidFill>
                  <a:srgbClr val="FFFFFF"/>
                </a:solidFill>
                <a:latin typeface="Inter" panose="020B0604020202020204" charset="0"/>
                <a:ea typeface="Inter" panose="020B0604020202020204" charset="0"/>
                <a:cs typeface="+mj-cs"/>
                <a:sym typeface="Inter"/>
              </a:rPr>
              <a:t>Evaluate how increasing renewable energy impacts emission reduction ​</a:t>
            </a:r>
          </a:p>
          <a:p>
            <a:pPr>
              <a:spcBef>
                <a:spcPts val="1000"/>
              </a:spcBef>
              <a:buClr>
                <a:schemeClr val="bg2">
                  <a:lumMod val="40000"/>
                  <a:lumOff val="60000"/>
                </a:schemeClr>
              </a:buClr>
              <a:buSzPct val="80000"/>
              <a:buFont typeface="Wingdings 3" charset="2"/>
              <a:buChar char=""/>
            </a:pPr>
            <a:endParaRPr lang="en-US" sz="2800" dirty="0">
              <a:solidFill>
                <a:srgbClr val="FFFFFF"/>
              </a:solidFill>
              <a:latin typeface="Inter" panose="020B0604020202020204" charset="0"/>
              <a:ea typeface="Inter" panose="020B0604020202020204" charset="0"/>
              <a:cs typeface="+mj-cs"/>
              <a:sym typeface="Inter"/>
            </a:endParaRPr>
          </a:p>
          <a:p>
            <a:pPr marL="732537" lvl="1" indent="-366268">
              <a:spcBef>
                <a:spcPts val="1000"/>
              </a:spcBef>
              <a:buClr>
                <a:schemeClr val="bg2">
                  <a:lumMod val="40000"/>
                  <a:lumOff val="60000"/>
                </a:schemeClr>
              </a:buClr>
              <a:buSzPct val="80000"/>
              <a:buFont typeface="Wingdings 3" charset="2"/>
              <a:buChar char=""/>
            </a:pPr>
            <a:r>
              <a:rPr lang="en-US" sz="2800" dirty="0">
                <a:solidFill>
                  <a:srgbClr val="FFFFFF"/>
                </a:solidFill>
                <a:latin typeface="Inter" panose="020B0604020202020204" charset="0"/>
                <a:ea typeface="Inter" panose="020B0604020202020204" charset="0"/>
                <a:cs typeface="+mj-cs"/>
                <a:sym typeface="Inter"/>
              </a:rPr>
              <a:t>Compare impact across countries and over time​</a:t>
            </a:r>
          </a:p>
          <a:p>
            <a:pPr>
              <a:spcBef>
                <a:spcPts val="1000"/>
              </a:spcBef>
              <a:buClr>
                <a:schemeClr val="bg2">
                  <a:lumMod val="40000"/>
                  <a:lumOff val="60000"/>
                </a:schemeClr>
              </a:buClr>
              <a:buSzPct val="80000"/>
              <a:buFont typeface="Wingdings 3" charset="2"/>
              <a:buChar char=""/>
            </a:pPr>
            <a:endParaRPr lang="en-US" sz="2800" dirty="0">
              <a:solidFill>
                <a:srgbClr val="FFFFFF"/>
              </a:solidFill>
              <a:latin typeface="Inter" panose="020B0604020202020204" charset="0"/>
              <a:ea typeface="Inter" panose="020B0604020202020204" charset="0"/>
              <a:cs typeface="+mj-cs"/>
              <a:sym typeface="Inter"/>
            </a:endParaRPr>
          </a:p>
          <a:p>
            <a:pPr>
              <a:spcBef>
                <a:spcPts val="1000"/>
              </a:spcBef>
              <a:buClr>
                <a:schemeClr val="bg2">
                  <a:lumMod val="40000"/>
                  <a:lumOff val="60000"/>
                </a:schemeClr>
              </a:buClr>
              <a:buSzPct val="80000"/>
              <a:buFont typeface="Wingdings 3" charset="2"/>
              <a:buChar char=""/>
            </a:pPr>
            <a:endParaRPr lang="en-US" sz="2800" dirty="0">
              <a:solidFill>
                <a:srgbClr val="FFFFFF"/>
              </a:solidFill>
              <a:latin typeface="Inter" panose="020B0604020202020204" charset="0"/>
              <a:ea typeface="Inter" panose="020B0604020202020204" charset="0"/>
              <a:cs typeface="+mj-cs"/>
              <a:sym typeface="Inter"/>
            </a:endParaRP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23961" y="-1"/>
            <a:ext cx="839208" cy="556446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Kontur farmy wiatrowej">
            <a:extLst>
              <a:ext uri="{FF2B5EF4-FFF2-40B4-BE49-F238E27FC236}">
                <a16:creationId xmlns:a16="http://schemas.microsoft.com/office/drawing/2014/main" id="{9751B57C-DBCB-D5B7-DED1-CA63EFD31C95}"/>
              </a:ext>
            </a:extLst>
          </p:cNvPr>
          <p:cNvPicPr>
            <a:picLocks noChangeAspect="1"/>
          </p:cNvPicPr>
          <p:nvPr/>
        </p:nvPicPr>
        <p:blipFill>
          <a:blip r:embed="rId7"/>
          <a:srcRect l="23710" r="28886" b="-1"/>
          <a:stretch>
            <a:fillRect/>
          </a:stretch>
        </p:blipFill>
        <p:spPr>
          <a:xfrm>
            <a:off x="10843762" y="1"/>
            <a:ext cx="7444868" cy="10287002"/>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402807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75754"/>
        </a:solidFill>
        <a:effectLst/>
      </p:bgPr>
    </p:bg>
    <p:spTree>
      <p:nvGrpSpPr>
        <p:cNvPr id="1" name=""/>
        <p:cNvGrpSpPr/>
        <p:nvPr/>
      </p:nvGrpSpPr>
      <p:grpSpPr>
        <a:xfrm>
          <a:off x="0" y="0"/>
          <a:ext cx="0" cy="0"/>
          <a:chOff x="0" y="0"/>
          <a:chExt cx="0" cy="0"/>
        </a:xfrm>
      </p:grpSpPr>
      <p:sp>
        <p:nvSpPr>
          <p:cNvPr id="2" name="Freeform 2"/>
          <p:cNvSpPr/>
          <p:nvPr/>
        </p:nvSpPr>
        <p:spPr>
          <a:xfrm>
            <a:off x="-1666426" y="-654200"/>
            <a:ext cx="3466448" cy="3466448"/>
          </a:xfrm>
          <a:custGeom>
            <a:avLst/>
            <a:gdLst/>
            <a:ahLst/>
            <a:cxnLst/>
            <a:rect l="l" t="t" r="r" b="b"/>
            <a:pathLst>
              <a:path w="3466448" h="3466448">
                <a:moveTo>
                  <a:pt x="0" y="0"/>
                </a:moveTo>
                <a:lnTo>
                  <a:pt x="3466448" y="0"/>
                </a:lnTo>
                <a:lnTo>
                  <a:pt x="3466448" y="3466448"/>
                </a:lnTo>
                <a:lnTo>
                  <a:pt x="0" y="3466448"/>
                </a:lnTo>
                <a:lnTo>
                  <a:pt x="0" y="0"/>
                </a:lnTo>
                <a:close/>
              </a:path>
            </a:pathLst>
          </a:custGeom>
          <a:blipFill>
            <a:blip r:embed="rId3"/>
            <a:stretch>
              <a:fillRect/>
            </a:stretch>
          </a:blipFill>
        </p:spPr>
        <p:txBody>
          <a:bodyPr/>
          <a:lstStyle/>
          <a:p>
            <a:endParaRPr lang="pl-PL"/>
          </a:p>
        </p:txBody>
      </p:sp>
      <p:grpSp>
        <p:nvGrpSpPr>
          <p:cNvPr id="3" name="Group 3"/>
          <p:cNvGrpSpPr/>
          <p:nvPr/>
        </p:nvGrpSpPr>
        <p:grpSpPr>
          <a:xfrm>
            <a:off x="0" y="9208000"/>
            <a:ext cx="18288000" cy="1078800"/>
            <a:chOff x="0" y="0"/>
            <a:chExt cx="24384000" cy="1438400"/>
          </a:xfrm>
        </p:grpSpPr>
        <p:sp>
          <p:nvSpPr>
            <p:cNvPr id="4" name="Freeform 4"/>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5" name="Freeform 5"/>
          <p:cNvSpPr/>
          <p:nvPr/>
        </p:nvSpPr>
        <p:spPr>
          <a:xfrm rot="5400000">
            <a:off x="15659566" y="-1464408"/>
            <a:ext cx="1118936" cy="3651998"/>
          </a:xfrm>
          <a:custGeom>
            <a:avLst/>
            <a:gdLst/>
            <a:ahLst/>
            <a:cxnLst/>
            <a:rect l="l" t="t" r="r" b="b"/>
            <a:pathLst>
              <a:path w="1118936" h="3651998">
                <a:moveTo>
                  <a:pt x="0" y="0"/>
                </a:moveTo>
                <a:lnTo>
                  <a:pt x="1118936" y="0"/>
                </a:lnTo>
                <a:lnTo>
                  <a:pt x="1118936" y="3651998"/>
                </a:lnTo>
                <a:lnTo>
                  <a:pt x="0" y="3651998"/>
                </a:lnTo>
                <a:lnTo>
                  <a:pt x="0" y="0"/>
                </a:lnTo>
                <a:close/>
              </a:path>
            </a:pathLst>
          </a:custGeom>
          <a:blipFill>
            <a:blip r:embed="rId4"/>
            <a:stretch>
              <a:fillRect l="-1" r="-1"/>
            </a:stretch>
          </a:blipFill>
        </p:spPr>
        <p:txBody>
          <a:bodyPr/>
          <a:lstStyle/>
          <a:p>
            <a:endParaRPr lang="pl-PL"/>
          </a:p>
        </p:txBody>
      </p:sp>
      <p:sp>
        <p:nvSpPr>
          <p:cNvPr id="6" name="Freeform 6"/>
          <p:cNvSpPr/>
          <p:nvPr/>
        </p:nvSpPr>
        <p:spPr>
          <a:xfrm>
            <a:off x="17579552" y="3946500"/>
            <a:ext cx="2752402" cy="2752402"/>
          </a:xfrm>
          <a:custGeom>
            <a:avLst/>
            <a:gdLst/>
            <a:ahLst/>
            <a:cxnLst/>
            <a:rect l="l" t="t" r="r" b="b"/>
            <a:pathLst>
              <a:path w="2752402" h="2752402">
                <a:moveTo>
                  <a:pt x="0" y="0"/>
                </a:moveTo>
                <a:lnTo>
                  <a:pt x="2752402" y="0"/>
                </a:lnTo>
                <a:lnTo>
                  <a:pt x="2752402" y="2752402"/>
                </a:lnTo>
                <a:lnTo>
                  <a:pt x="0" y="2752402"/>
                </a:lnTo>
                <a:lnTo>
                  <a:pt x="0" y="0"/>
                </a:lnTo>
                <a:close/>
              </a:path>
            </a:pathLst>
          </a:custGeom>
          <a:blipFill>
            <a:blip r:embed="rId5"/>
            <a:stretch>
              <a:fillRect/>
            </a:stretch>
          </a:blipFill>
        </p:spPr>
        <p:txBody>
          <a:bodyPr/>
          <a:lstStyle/>
          <a:p>
            <a:endParaRPr lang="pl-PL"/>
          </a:p>
        </p:txBody>
      </p:sp>
      <p:sp>
        <p:nvSpPr>
          <p:cNvPr id="7" name="Freeform 7"/>
          <p:cNvSpPr/>
          <p:nvPr/>
        </p:nvSpPr>
        <p:spPr>
          <a:xfrm>
            <a:off x="-2412284" y="6386924"/>
            <a:ext cx="3657370" cy="3651952"/>
          </a:xfrm>
          <a:custGeom>
            <a:avLst/>
            <a:gdLst/>
            <a:ahLst/>
            <a:cxnLst/>
            <a:rect l="l" t="t" r="r" b="b"/>
            <a:pathLst>
              <a:path w="3657370" h="3651952">
                <a:moveTo>
                  <a:pt x="0" y="0"/>
                </a:moveTo>
                <a:lnTo>
                  <a:pt x="3657370" y="0"/>
                </a:lnTo>
                <a:lnTo>
                  <a:pt x="3657370" y="3651952"/>
                </a:lnTo>
                <a:lnTo>
                  <a:pt x="0" y="3651952"/>
                </a:lnTo>
                <a:lnTo>
                  <a:pt x="0" y="0"/>
                </a:lnTo>
                <a:close/>
              </a:path>
            </a:pathLst>
          </a:custGeom>
          <a:blipFill>
            <a:blip r:embed="rId6"/>
            <a:stretch>
              <a:fillRect/>
            </a:stretch>
          </a:blipFill>
        </p:spPr>
        <p:txBody>
          <a:bodyPr/>
          <a:lstStyle/>
          <a:p>
            <a:endParaRPr lang="pl-PL"/>
          </a:p>
        </p:txBody>
      </p:sp>
      <p:sp>
        <p:nvSpPr>
          <p:cNvPr id="8" name="Freeform 8"/>
          <p:cNvSpPr/>
          <p:nvPr/>
        </p:nvSpPr>
        <p:spPr>
          <a:xfrm>
            <a:off x="5328250" y="9444950"/>
            <a:ext cx="1842400" cy="1842400"/>
          </a:xfrm>
          <a:custGeom>
            <a:avLst/>
            <a:gdLst/>
            <a:ahLst/>
            <a:cxnLst/>
            <a:rect l="l" t="t" r="r" b="b"/>
            <a:pathLst>
              <a:path w="1842400" h="1842400">
                <a:moveTo>
                  <a:pt x="0" y="0"/>
                </a:moveTo>
                <a:lnTo>
                  <a:pt x="1842400" y="0"/>
                </a:lnTo>
                <a:lnTo>
                  <a:pt x="1842400" y="1842400"/>
                </a:lnTo>
                <a:lnTo>
                  <a:pt x="0" y="1842400"/>
                </a:lnTo>
                <a:lnTo>
                  <a:pt x="0" y="0"/>
                </a:lnTo>
                <a:close/>
              </a:path>
            </a:pathLst>
          </a:custGeom>
          <a:blipFill>
            <a:blip r:embed="rId7"/>
            <a:stretch>
              <a:fillRect/>
            </a:stretch>
          </a:blipFill>
        </p:spPr>
        <p:txBody>
          <a:bodyPr/>
          <a:lstStyle/>
          <a:p>
            <a:endParaRPr lang="pl-PL"/>
          </a:p>
        </p:txBody>
      </p:sp>
      <p:sp>
        <p:nvSpPr>
          <p:cNvPr id="9" name="Freeform 9"/>
          <p:cNvSpPr/>
          <p:nvPr/>
        </p:nvSpPr>
        <p:spPr>
          <a:xfrm>
            <a:off x="12893850" y="944495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8"/>
            <a:stretch>
              <a:fillRect/>
            </a:stretch>
          </a:blipFill>
        </p:spPr>
        <p:txBody>
          <a:bodyPr/>
          <a:lstStyle/>
          <a:p>
            <a:endParaRPr lang="pl-PL"/>
          </a:p>
        </p:txBody>
      </p:sp>
      <p:sp>
        <p:nvSpPr>
          <p:cNvPr id="10" name="Freeform 10"/>
          <p:cNvSpPr/>
          <p:nvPr/>
        </p:nvSpPr>
        <p:spPr>
          <a:xfrm>
            <a:off x="6568400" y="-439610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8"/>
            <a:stretch>
              <a:fillRect/>
            </a:stretch>
          </a:blipFill>
        </p:spPr>
        <p:txBody>
          <a:bodyPr/>
          <a:lstStyle/>
          <a:p>
            <a:endParaRPr lang="pl-PL"/>
          </a:p>
        </p:txBody>
      </p:sp>
      <p:sp>
        <p:nvSpPr>
          <p:cNvPr id="11" name="TextBox 11"/>
          <p:cNvSpPr txBox="1"/>
          <p:nvPr/>
        </p:nvSpPr>
        <p:spPr>
          <a:xfrm>
            <a:off x="3200400" y="1166151"/>
            <a:ext cx="11265964" cy="859210"/>
          </a:xfrm>
          <a:prstGeom prst="rect">
            <a:avLst/>
          </a:prstGeom>
        </p:spPr>
        <p:txBody>
          <a:bodyPr wrap="square" lIns="0" tIns="0" rIns="0" bIns="0" rtlCol="0" anchor="t">
            <a:spAutoFit/>
          </a:bodyPr>
          <a:lstStyle/>
          <a:p>
            <a:pPr algn="ctr">
              <a:lnSpc>
                <a:spcPts val="6719"/>
              </a:lnSpc>
            </a:pPr>
            <a:r>
              <a:rPr lang="en-US" sz="5599" b="1" dirty="0">
                <a:solidFill>
                  <a:srgbClr val="FFFFFF"/>
                </a:solidFill>
                <a:latin typeface="Arimo Bold"/>
                <a:ea typeface="Arimo Bold"/>
                <a:cs typeface="Arimo Bold"/>
                <a:sym typeface="Arimo Bold"/>
              </a:rPr>
              <a:t>Dataset</a:t>
            </a:r>
            <a:r>
              <a:rPr lang="pl-PL" sz="5599" b="1" dirty="0">
                <a:solidFill>
                  <a:srgbClr val="FFFFFF"/>
                </a:solidFill>
                <a:latin typeface="Arimo Bold"/>
                <a:ea typeface="Arimo Bold"/>
                <a:cs typeface="Arimo Bold"/>
                <a:sym typeface="Arimo Bold"/>
              </a:rPr>
              <a:t> </a:t>
            </a:r>
            <a:r>
              <a:rPr lang="en-US" sz="5599" b="1" dirty="0">
                <a:solidFill>
                  <a:srgbClr val="FFFFFF"/>
                </a:solidFill>
                <a:latin typeface="Arimo Bold"/>
                <a:ea typeface="Arimo Bold"/>
                <a:cs typeface="Arimo Bold"/>
                <a:sym typeface="Arimo Bold"/>
              </a:rPr>
              <a:t>overview​</a:t>
            </a:r>
          </a:p>
        </p:txBody>
      </p:sp>
      <p:graphicFrame>
        <p:nvGraphicFramePr>
          <p:cNvPr id="14" name="TextBox 12">
            <a:extLst>
              <a:ext uri="{FF2B5EF4-FFF2-40B4-BE49-F238E27FC236}">
                <a16:creationId xmlns:a16="http://schemas.microsoft.com/office/drawing/2014/main" id="{2900C10D-E53F-7D3B-17F2-6243D4738514}"/>
              </a:ext>
            </a:extLst>
          </p:cNvPr>
          <p:cNvGraphicFramePr/>
          <p:nvPr>
            <p:extLst>
              <p:ext uri="{D42A27DB-BD31-4B8C-83A1-F6EECF244321}">
                <p14:modId xmlns:p14="http://schemas.microsoft.com/office/powerpoint/2010/main" val="550210710"/>
              </p:ext>
            </p:extLst>
          </p:nvPr>
        </p:nvGraphicFramePr>
        <p:xfrm>
          <a:off x="2878307" y="2765945"/>
          <a:ext cx="12801600" cy="570147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75754"/>
        </a:solidFill>
        <a:effectLst/>
      </p:bgPr>
    </p:bg>
    <p:spTree>
      <p:nvGrpSpPr>
        <p:cNvPr id="1" name=""/>
        <p:cNvGrpSpPr/>
        <p:nvPr/>
      </p:nvGrpSpPr>
      <p:grpSpPr>
        <a:xfrm>
          <a:off x="0" y="0"/>
          <a:ext cx="0" cy="0"/>
          <a:chOff x="0" y="0"/>
          <a:chExt cx="0" cy="0"/>
        </a:xfrm>
      </p:grpSpPr>
      <p:grpSp>
        <p:nvGrpSpPr>
          <p:cNvPr id="2" name="Group 2"/>
          <p:cNvGrpSpPr/>
          <p:nvPr/>
        </p:nvGrpSpPr>
        <p:grpSpPr>
          <a:xfrm>
            <a:off x="0" y="9208000"/>
            <a:ext cx="18288000" cy="1078800"/>
            <a:chOff x="0" y="0"/>
            <a:chExt cx="24384000" cy="1438400"/>
          </a:xfrm>
        </p:grpSpPr>
        <p:sp>
          <p:nvSpPr>
            <p:cNvPr id="3" name="Freeform 3"/>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p:cNvSpPr/>
          <p:nvPr/>
        </p:nvSpPr>
        <p:spPr>
          <a:xfrm>
            <a:off x="575350" y="7587626"/>
            <a:ext cx="4477500" cy="4477550"/>
          </a:xfrm>
          <a:custGeom>
            <a:avLst/>
            <a:gdLst/>
            <a:ahLst/>
            <a:cxnLst/>
            <a:rect l="l" t="t" r="r" b="b"/>
            <a:pathLst>
              <a:path w="4477500" h="4477550">
                <a:moveTo>
                  <a:pt x="0" y="0"/>
                </a:moveTo>
                <a:lnTo>
                  <a:pt x="4477500" y="0"/>
                </a:lnTo>
                <a:lnTo>
                  <a:pt x="4477500" y="4477550"/>
                </a:lnTo>
                <a:lnTo>
                  <a:pt x="0" y="4477550"/>
                </a:lnTo>
                <a:lnTo>
                  <a:pt x="0" y="0"/>
                </a:lnTo>
                <a:close/>
              </a:path>
            </a:pathLst>
          </a:custGeom>
          <a:blipFill>
            <a:blip r:embed="rId3"/>
            <a:stretch>
              <a:fillRect/>
            </a:stretch>
          </a:blipFill>
        </p:spPr>
        <p:txBody>
          <a:bodyPr/>
          <a:lstStyle/>
          <a:p>
            <a:endParaRPr lang="pl-PL"/>
          </a:p>
        </p:txBody>
      </p:sp>
      <p:sp>
        <p:nvSpPr>
          <p:cNvPr id="5" name="Freeform 5"/>
          <p:cNvSpPr/>
          <p:nvPr/>
        </p:nvSpPr>
        <p:spPr>
          <a:xfrm>
            <a:off x="-1069634" y="-1964276"/>
            <a:ext cx="3657370" cy="3651952"/>
          </a:xfrm>
          <a:custGeom>
            <a:avLst/>
            <a:gdLst/>
            <a:ahLst/>
            <a:cxnLst/>
            <a:rect l="l" t="t" r="r" b="b"/>
            <a:pathLst>
              <a:path w="3657370" h="3651952">
                <a:moveTo>
                  <a:pt x="0" y="0"/>
                </a:moveTo>
                <a:lnTo>
                  <a:pt x="3657370" y="0"/>
                </a:lnTo>
                <a:lnTo>
                  <a:pt x="3657370" y="3651952"/>
                </a:lnTo>
                <a:lnTo>
                  <a:pt x="0" y="3651952"/>
                </a:lnTo>
                <a:lnTo>
                  <a:pt x="0" y="0"/>
                </a:lnTo>
                <a:close/>
              </a:path>
            </a:pathLst>
          </a:custGeom>
          <a:blipFill>
            <a:blip r:embed="rId4"/>
            <a:stretch>
              <a:fillRect/>
            </a:stretch>
          </a:blipFill>
        </p:spPr>
        <p:txBody>
          <a:bodyPr/>
          <a:lstStyle/>
          <a:p>
            <a:endParaRPr lang="pl-PL"/>
          </a:p>
        </p:txBody>
      </p:sp>
      <p:sp>
        <p:nvSpPr>
          <p:cNvPr id="6" name="Freeform 6"/>
          <p:cNvSpPr/>
          <p:nvPr/>
        </p:nvSpPr>
        <p:spPr>
          <a:xfrm rot="-5400000">
            <a:off x="16273385" y="-1604538"/>
            <a:ext cx="1118936" cy="3651998"/>
          </a:xfrm>
          <a:custGeom>
            <a:avLst/>
            <a:gdLst/>
            <a:ahLst/>
            <a:cxnLst/>
            <a:rect l="l" t="t" r="r" b="b"/>
            <a:pathLst>
              <a:path w="1118936" h="3651998">
                <a:moveTo>
                  <a:pt x="0" y="0"/>
                </a:moveTo>
                <a:lnTo>
                  <a:pt x="1118936" y="0"/>
                </a:lnTo>
                <a:lnTo>
                  <a:pt x="1118936" y="3651998"/>
                </a:lnTo>
                <a:lnTo>
                  <a:pt x="0" y="3651998"/>
                </a:lnTo>
                <a:lnTo>
                  <a:pt x="0" y="0"/>
                </a:lnTo>
                <a:close/>
              </a:path>
            </a:pathLst>
          </a:custGeom>
          <a:blipFill>
            <a:blip r:embed="rId5"/>
            <a:stretch>
              <a:fillRect l="-1" r="-1"/>
            </a:stretch>
          </a:blipFill>
        </p:spPr>
        <p:txBody>
          <a:bodyPr/>
          <a:lstStyle/>
          <a:p>
            <a:endParaRPr lang="pl-PL"/>
          </a:p>
        </p:txBody>
      </p:sp>
      <p:sp>
        <p:nvSpPr>
          <p:cNvPr id="7" name="Freeform 7"/>
          <p:cNvSpPr/>
          <p:nvPr/>
        </p:nvSpPr>
        <p:spPr>
          <a:xfrm>
            <a:off x="17432350" y="4222300"/>
            <a:ext cx="1842400" cy="1842400"/>
          </a:xfrm>
          <a:custGeom>
            <a:avLst/>
            <a:gdLst/>
            <a:ahLst/>
            <a:cxnLst/>
            <a:rect l="l" t="t" r="r" b="b"/>
            <a:pathLst>
              <a:path w="1842400" h="1842400">
                <a:moveTo>
                  <a:pt x="0" y="0"/>
                </a:moveTo>
                <a:lnTo>
                  <a:pt x="1842400" y="0"/>
                </a:lnTo>
                <a:lnTo>
                  <a:pt x="1842400" y="1842400"/>
                </a:lnTo>
                <a:lnTo>
                  <a:pt x="0" y="1842400"/>
                </a:lnTo>
                <a:lnTo>
                  <a:pt x="0" y="0"/>
                </a:lnTo>
                <a:close/>
              </a:path>
            </a:pathLst>
          </a:custGeom>
          <a:blipFill>
            <a:blip r:embed="rId6"/>
            <a:stretch>
              <a:fillRect/>
            </a:stretch>
          </a:blipFill>
        </p:spPr>
        <p:txBody>
          <a:bodyPr/>
          <a:lstStyle/>
          <a:p>
            <a:endParaRPr lang="pl-PL"/>
          </a:p>
        </p:txBody>
      </p:sp>
      <p:sp>
        <p:nvSpPr>
          <p:cNvPr id="8" name="Freeform 8"/>
          <p:cNvSpPr/>
          <p:nvPr/>
        </p:nvSpPr>
        <p:spPr>
          <a:xfrm>
            <a:off x="11710350" y="8728200"/>
            <a:ext cx="5151200" cy="5151200"/>
          </a:xfrm>
          <a:custGeom>
            <a:avLst/>
            <a:gdLst/>
            <a:ahLst/>
            <a:cxnLst/>
            <a:rect l="l" t="t" r="r" b="b"/>
            <a:pathLst>
              <a:path w="5151200" h="5151200">
                <a:moveTo>
                  <a:pt x="0" y="0"/>
                </a:moveTo>
                <a:lnTo>
                  <a:pt x="5151200" y="0"/>
                </a:lnTo>
                <a:lnTo>
                  <a:pt x="5151200" y="5151200"/>
                </a:lnTo>
                <a:lnTo>
                  <a:pt x="0" y="5151200"/>
                </a:lnTo>
                <a:lnTo>
                  <a:pt x="0" y="0"/>
                </a:lnTo>
                <a:close/>
              </a:path>
            </a:pathLst>
          </a:custGeom>
          <a:blipFill>
            <a:blip r:embed="rId7"/>
            <a:stretch>
              <a:fillRect/>
            </a:stretch>
          </a:blipFill>
        </p:spPr>
        <p:txBody>
          <a:bodyPr/>
          <a:lstStyle/>
          <a:p>
            <a:endParaRPr lang="pl-PL"/>
          </a:p>
        </p:txBody>
      </p:sp>
      <p:sp>
        <p:nvSpPr>
          <p:cNvPr id="9" name="Freeform 9"/>
          <p:cNvSpPr/>
          <p:nvPr/>
        </p:nvSpPr>
        <p:spPr>
          <a:xfrm>
            <a:off x="824311" y="1552454"/>
            <a:ext cx="3526850" cy="4518540"/>
          </a:xfrm>
          <a:custGeom>
            <a:avLst/>
            <a:gdLst/>
            <a:ahLst/>
            <a:cxnLst/>
            <a:rect l="l" t="t" r="r" b="b"/>
            <a:pathLst>
              <a:path w="3526850" h="4518540">
                <a:moveTo>
                  <a:pt x="0" y="0"/>
                </a:moveTo>
                <a:lnTo>
                  <a:pt x="3526850" y="0"/>
                </a:lnTo>
                <a:lnTo>
                  <a:pt x="3526850" y="4518540"/>
                </a:lnTo>
                <a:lnTo>
                  <a:pt x="0" y="451854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pl-PL"/>
          </a:p>
        </p:txBody>
      </p:sp>
      <p:sp>
        <p:nvSpPr>
          <p:cNvPr id="10" name="Freeform 10"/>
          <p:cNvSpPr/>
          <p:nvPr/>
        </p:nvSpPr>
        <p:spPr>
          <a:xfrm>
            <a:off x="575350" y="1241976"/>
            <a:ext cx="7296532" cy="8505424"/>
          </a:xfrm>
          <a:custGeom>
            <a:avLst/>
            <a:gdLst/>
            <a:ahLst/>
            <a:cxnLst/>
            <a:rect l="l" t="t" r="r" b="b"/>
            <a:pathLst>
              <a:path w="7296532" h="8505424">
                <a:moveTo>
                  <a:pt x="0" y="0"/>
                </a:moveTo>
                <a:lnTo>
                  <a:pt x="7296532" y="0"/>
                </a:lnTo>
                <a:lnTo>
                  <a:pt x="7296532" y="8505424"/>
                </a:lnTo>
                <a:lnTo>
                  <a:pt x="0" y="8505424"/>
                </a:lnTo>
                <a:lnTo>
                  <a:pt x="0" y="0"/>
                </a:lnTo>
                <a:close/>
              </a:path>
            </a:pathLst>
          </a:custGeom>
          <a:blipFill>
            <a:blip r:embed="rId9"/>
            <a:stretch>
              <a:fillRect/>
            </a:stretch>
          </a:blipFill>
        </p:spPr>
        <p:txBody>
          <a:bodyPr/>
          <a:lstStyle/>
          <a:p>
            <a:endParaRPr lang="pl-PL"/>
          </a:p>
        </p:txBody>
      </p:sp>
      <p:sp>
        <p:nvSpPr>
          <p:cNvPr id="11" name="Freeform 11"/>
          <p:cNvSpPr/>
          <p:nvPr/>
        </p:nvSpPr>
        <p:spPr>
          <a:xfrm>
            <a:off x="9846617" y="2780970"/>
            <a:ext cx="6431246" cy="6166184"/>
          </a:xfrm>
          <a:custGeom>
            <a:avLst/>
            <a:gdLst/>
            <a:ahLst/>
            <a:cxnLst/>
            <a:rect l="l" t="t" r="r" b="b"/>
            <a:pathLst>
              <a:path w="6431246" h="6166184">
                <a:moveTo>
                  <a:pt x="0" y="0"/>
                </a:moveTo>
                <a:lnTo>
                  <a:pt x="6431246" y="0"/>
                </a:lnTo>
                <a:lnTo>
                  <a:pt x="6431246" y="6166184"/>
                </a:lnTo>
                <a:lnTo>
                  <a:pt x="0" y="6166184"/>
                </a:lnTo>
                <a:lnTo>
                  <a:pt x="0" y="0"/>
                </a:lnTo>
                <a:close/>
              </a:path>
            </a:pathLst>
          </a:custGeom>
          <a:blipFill>
            <a:blip r:embed="rId10"/>
            <a:stretch>
              <a:fillRect/>
            </a:stretch>
          </a:blipFill>
        </p:spPr>
        <p:txBody>
          <a:bodyPr/>
          <a:lstStyle/>
          <a:p>
            <a:endParaRPr lang="pl-PL"/>
          </a:p>
        </p:txBody>
      </p:sp>
      <p:sp>
        <p:nvSpPr>
          <p:cNvPr id="12" name="TextBox 12"/>
          <p:cNvSpPr txBox="1"/>
          <p:nvPr/>
        </p:nvSpPr>
        <p:spPr>
          <a:xfrm>
            <a:off x="8692130" y="657104"/>
            <a:ext cx="8740220" cy="1762125"/>
          </a:xfrm>
          <a:prstGeom prst="rect">
            <a:avLst/>
          </a:prstGeom>
        </p:spPr>
        <p:txBody>
          <a:bodyPr lIns="0" tIns="0" rIns="0" bIns="0" rtlCol="0" anchor="t">
            <a:spAutoFit/>
          </a:bodyPr>
          <a:lstStyle/>
          <a:p>
            <a:pPr algn="ctr">
              <a:lnSpc>
                <a:spcPts val="6868"/>
              </a:lnSpc>
            </a:pPr>
            <a:r>
              <a:rPr lang="en-US" sz="5723" b="1" dirty="0">
                <a:solidFill>
                  <a:srgbClr val="FFFFFF"/>
                </a:solidFill>
                <a:latin typeface="Arimo Bold"/>
                <a:ea typeface="Arimo Bold"/>
                <a:cs typeface="Arimo Bold"/>
                <a:sym typeface="Arimo Bold"/>
              </a:rPr>
              <a:t>Dataset overview and </a:t>
            </a:r>
            <a:r>
              <a:rPr lang="en-US" sz="5400" b="1" dirty="0">
                <a:solidFill>
                  <a:srgbClr val="FFFFFF"/>
                </a:solidFill>
                <a:latin typeface="Arimo Bold"/>
                <a:ea typeface="Arimo Bold"/>
                <a:cs typeface="Arimo Bold"/>
                <a:sym typeface="Arimo Bold"/>
              </a:rPr>
              <a:t>preprocessing</a:t>
            </a:r>
            <a:r>
              <a:rPr lang="en-US" sz="5723" b="1" dirty="0">
                <a:solidFill>
                  <a:srgbClr val="FFFFFF"/>
                </a:solidFill>
                <a:latin typeface="Arimo Bold"/>
                <a:ea typeface="Arimo Bold"/>
                <a:cs typeface="Arimo Bold"/>
                <a:sym typeface="Arimo Bold"/>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F365D-8753-17E8-449B-6AEBEB1A9B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3A5F13E-5E9F-C0DD-21E4-DA1C3ABE8248}"/>
              </a:ext>
            </a:extLst>
          </p:cNvPr>
          <p:cNvGrpSpPr/>
          <p:nvPr/>
        </p:nvGrpSpPr>
        <p:grpSpPr>
          <a:xfrm>
            <a:off x="0" y="9208000"/>
            <a:ext cx="18288000" cy="1078800"/>
            <a:chOff x="0" y="0"/>
            <a:chExt cx="24384000" cy="1438400"/>
          </a:xfrm>
        </p:grpSpPr>
        <p:sp>
          <p:nvSpPr>
            <p:cNvPr id="3" name="Freeform 3">
              <a:extLst>
                <a:ext uri="{FF2B5EF4-FFF2-40B4-BE49-F238E27FC236}">
                  <a16:creationId xmlns:a16="http://schemas.microsoft.com/office/drawing/2014/main" id="{A14D9D20-B19A-FA6B-2874-3475406C0A9D}"/>
                </a:ext>
              </a:extLst>
            </p:cNvPr>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a:extLst>
              <a:ext uri="{FF2B5EF4-FFF2-40B4-BE49-F238E27FC236}">
                <a16:creationId xmlns:a16="http://schemas.microsoft.com/office/drawing/2014/main" id="{42224F9C-8429-4172-8EDE-C63B7D28EB0B}"/>
              </a:ext>
            </a:extLst>
          </p:cNvPr>
          <p:cNvSpPr/>
          <p:nvPr/>
        </p:nvSpPr>
        <p:spPr>
          <a:xfrm flipH="1">
            <a:off x="17186638" y="3248324"/>
            <a:ext cx="3466448" cy="3466448"/>
          </a:xfrm>
          <a:custGeom>
            <a:avLst/>
            <a:gdLst/>
            <a:ahLst/>
            <a:cxnLst/>
            <a:rect l="l" t="t" r="r" b="b"/>
            <a:pathLst>
              <a:path w="3466448" h="3466448">
                <a:moveTo>
                  <a:pt x="3466448" y="0"/>
                </a:moveTo>
                <a:lnTo>
                  <a:pt x="0" y="0"/>
                </a:lnTo>
                <a:lnTo>
                  <a:pt x="0" y="3466448"/>
                </a:lnTo>
                <a:lnTo>
                  <a:pt x="3466448" y="3466448"/>
                </a:lnTo>
                <a:lnTo>
                  <a:pt x="3466448" y="0"/>
                </a:lnTo>
                <a:close/>
              </a:path>
            </a:pathLst>
          </a:custGeom>
          <a:blipFill>
            <a:blip r:embed="rId3"/>
            <a:stretch>
              <a:fillRect/>
            </a:stretch>
          </a:blipFill>
        </p:spPr>
        <p:txBody>
          <a:bodyPr/>
          <a:lstStyle/>
          <a:p>
            <a:endParaRPr lang="pl-PL"/>
          </a:p>
        </p:txBody>
      </p:sp>
      <p:sp>
        <p:nvSpPr>
          <p:cNvPr id="5" name="Freeform 5">
            <a:extLst>
              <a:ext uri="{FF2B5EF4-FFF2-40B4-BE49-F238E27FC236}">
                <a16:creationId xmlns:a16="http://schemas.microsoft.com/office/drawing/2014/main" id="{5D181A85-BA04-FCFD-096F-66496E4A374B}"/>
              </a:ext>
            </a:extLst>
          </p:cNvPr>
          <p:cNvSpPr/>
          <p:nvPr/>
        </p:nvSpPr>
        <p:spPr>
          <a:xfrm rot="-5400000" flipH="1">
            <a:off x="1453436" y="-1464408"/>
            <a:ext cx="1118936" cy="3651998"/>
          </a:xfrm>
          <a:custGeom>
            <a:avLst/>
            <a:gdLst/>
            <a:ahLst/>
            <a:cxnLst/>
            <a:rect l="l" t="t" r="r" b="b"/>
            <a:pathLst>
              <a:path w="1118936" h="3651998">
                <a:moveTo>
                  <a:pt x="1118936" y="0"/>
                </a:moveTo>
                <a:lnTo>
                  <a:pt x="0" y="0"/>
                </a:lnTo>
                <a:lnTo>
                  <a:pt x="0" y="3651998"/>
                </a:lnTo>
                <a:lnTo>
                  <a:pt x="1118936" y="3651998"/>
                </a:lnTo>
                <a:lnTo>
                  <a:pt x="1118936" y="0"/>
                </a:lnTo>
                <a:close/>
              </a:path>
            </a:pathLst>
          </a:custGeom>
          <a:blipFill>
            <a:blip r:embed="rId4"/>
            <a:stretch>
              <a:fillRect l="-1" r="-1"/>
            </a:stretch>
          </a:blipFill>
        </p:spPr>
        <p:txBody>
          <a:bodyPr/>
          <a:lstStyle/>
          <a:p>
            <a:endParaRPr lang="pl-PL"/>
          </a:p>
        </p:txBody>
      </p:sp>
      <p:sp>
        <p:nvSpPr>
          <p:cNvPr id="6" name="Freeform 6">
            <a:extLst>
              <a:ext uri="{FF2B5EF4-FFF2-40B4-BE49-F238E27FC236}">
                <a16:creationId xmlns:a16="http://schemas.microsoft.com/office/drawing/2014/main" id="{B2FDFC80-55AE-A8D9-E7AE-181F9EE55E32}"/>
              </a:ext>
            </a:extLst>
          </p:cNvPr>
          <p:cNvSpPr/>
          <p:nvPr/>
        </p:nvSpPr>
        <p:spPr>
          <a:xfrm flipH="1">
            <a:off x="-2115450" y="4726350"/>
            <a:ext cx="2735500" cy="2735500"/>
          </a:xfrm>
          <a:custGeom>
            <a:avLst/>
            <a:gdLst/>
            <a:ahLst/>
            <a:cxnLst/>
            <a:rect l="l" t="t" r="r" b="b"/>
            <a:pathLst>
              <a:path w="2735500" h="2735500">
                <a:moveTo>
                  <a:pt x="2735500" y="0"/>
                </a:moveTo>
                <a:lnTo>
                  <a:pt x="0" y="0"/>
                </a:lnTo>
                <a:lnTo>
                  <a:pt x="0" y="2735500"/>
                </a:lnTo>
                <a:lnTo>
                  <a:pt x="2735500" y="2735500"/>
                </a:lnTo>
                <a:lnTo>
                  <a:pt x="2735500" y="0"/>
                </a:lnTo>
                <a:close/>
              </a:path>
            </a:pathLst>
          </a:custGeom>
          <a:blipFill>
            <a:blip r:embed="rId5"/>
            <a:stretch>
              <a:fillRect/>
            </a:stretch>
          </a:blipFill>
        </p:spPr>
        <p:txBody>
          <a:bodyPr/>
          <a:lstStyle/>
          <a:p>
            <a:endParaRPr lang="pl-PL"/>
          </a:p>
        </p:txBody>
      </p:sp>
      <p:sp>
        <p:nvSpPr>
          <p:cNvPr id="7" name="Freeform 7">
            <a:extLst>
              <a:ext uri="{FF2B5EF4-FFF2-40B4-BE49-F238E27FC236}">
                <a16:creationId xmlns:a16="http://schemas.microsoft.com/office/drawing/2014/main" id="{338CDEE6-036B-AB4B-740D-392B01FE2148}"/>
              </a:ext>
            </a:extLst>
          </p:cNvPr>
          <p:cNvSpPr/>
          <p:nvPr/>
        </p:nvSpPr>
        <p:spPr>
          <a:xfrm flipH="1">
            <a:off x="14645610" y="9444950"/>
            <a:ext cx="1842400" cy="1842400"/>
          </a:xfrm>
          <a:custGeom>
            <a:avLst/>
            <a:gdLst/>
            <a:ahLst/>
            <a:cxnLst/>
            <a:rect l="l" t="t" r="r" b="b"/>
            <a:pathLst>
              <a:path w="1842400" h="1842400">
                <a:moveTo>
                  <a:pt x="1842400" y="0"/>
                </a:moveTo>
                <a:lnTo>
                  <a:pt x="0" y="0"/>
                </a:lnTo>
                <a:lnTo>
                  <a:pt x="0" y="1842400"/>
                </a:lnTo>
                <a:lnTo>
                  <a:pt x="1842400" y="1842400"/>
                </a:lnTo>
                <a:lnTo>
                  <a:pt x="1842400" y="0"/>
                </a:lnTo>
                <a:close/>
              </a:path>
            </a:pathLst>
          </a:custGeom>
          <a:blipFill>
            <a:blip r:embed="rId6"/>
            <a:stretch>
              <a:fillRect/>
            </a:stretch>
          </a:blipFill>
        </p:spPr>
        <p:txBody>
          <a:bodyPr/>
          <a:lstStyle/>
          <a:p>
            <a:endParaRPr lang="pl-PL"/>
          </a:p>
        </p:txBody>
      </p:sp>
      <p:sp>
        <p:nvSpPr>
          <p:cNvPr id="8" name="Freeform 8">
            <a:extLst>
              <a:ext uri="{FF2B5EF4-FFF2-40B4-BE49-F238E27FC236}">
                <a16:creationId xmlns:a16="http://schemas.microsoft.com/office/drawing/2014/main" id="{F0F1782B-98A8-FD88-FEA6-D4DBC38DB990}"/>
              </a:ext>
            </a:extLst>
          </p:cNvPr>
          <p:cNvSpPr/>
          <p:nvPr/>
        </p:nvSpPr>
        <p:spPr>
          <a:xfrm flipH="1">
            <a:off x="3826460" y="944495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9" name="Freeform 9">
            <a:extLst>
              <a:ext uri="{FF2B5EF4-FFF2-40B4-BE49-F238E27FC236}">
                <a16:creationId xmlns:a16="http://schemas.microsoft.com/office/drawing/2014/main" id="{3DCB63C0-E499-5988-18E8-B6B5F832DB5C}"/>
              </a:ext>
            </a:extLst>
          </p:cNvPr>
          <p:cNvSpPr/>
          <p:nvPr/>
        </p:nvSpPr>
        <p:spPr>
          <a:xfrm flipH="1">
            <a:off x="12472060" y="-439610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10" name="TextBox 9">
            <a:extLst>
              <a:ext uri="{FF2B5EF4-FFF2-40B4-BE49-F238E27FC236}">
                <a16:creationId xmlns:a16="http://schemas.microsoft.com/office/drawing/2014/main" id="{2CADF5CD-8DEF-CAE5-1224-BB22E37D6A73}"/>
              </a:ext>
            </a:extLst>
          </p:cNvPr>
          <p:cNvSpPr txBox="1"/>
          <p:nvPr/>
        </p:nvSpPr>
        <p:spPr>
          <a:xfrm>
            <a:off x="1924117" y="755100"/>
            <a:ext cx="14107085" cy="1118937"/>
          </a:xfrm>
          <a:prstGeom prst="rect">
            <a:avLst/>
          </a:prstGeom>
        </p:spPr>
        <p:txBody>
          <a:bodyPr vert="horz" lIns="91440" tIns="45720" rIns="91440" bIns="45720" rtlCol="0" anchor="t">
            <a:normAutofit/>
          </a:bodyPr>
          <a:lstStyle/>
          <a:p>
            <a:pPr algn="ctr">
              <a:spcBef>
                <a:spcPct val="0"/>
              </a:spcBef>
              <a:spcAft>
                <a:spcPts val="600"/>
              </a:spcAft>
            </a:pPr>
            <a:r>
              <a:rPr lang="en-US" sz="5400" b="1" dirty="0">
                <a:solidFill>
                  <a:schemeClr val="tx2"/>
                </a:solidFill>
                <a:latin typeface="Arimo Bold" panose="020B0604020202020204" charset="0"/>
                <a:ea typeface="Arimo Bold" panose="020B0604020202020204" charset="0"/>
                <a:cs typeface="Arimo Bold" panose="020B0604020202020204" charset="0"/>
                <a:sym typeface="Arimo Bold"/>
              </a:rPr>
              <a:t>How We Approached The Problem</a:t>
            </a:r>
          </a:p>
        </p:txBody>
      </p:sp>
      <p:graphicFrame>
        <p:nvGraphicFramePr>
          <p:cNvPr id="11" name="TextBox 10">
            <a:extLst>
              <a:ext uri="{FF2B5EF4-FFF2-40B4-BE49-F238E27FC236}">
                <a16:creationId xmlns:a16="http://schemas.microsoft.com/office/drawing/2014/main" id="{64EAFF76-5BB1-C5D9-960F-CCF2BA271A17}"/>
              </a:ext>
            </a:extLst>
          </p:cNvPr>
          <p:cNvGraphicFramePr/>
          <p:nvPr>
            <p:extLst>
              <p:ext uri="{D42A27DB-BD31-4B8C-83A1-F6EECF244321}">
                <p14:modId xmlns:p14="http://schemas.microsoft.com/office/powerpoint/2010/main" val="4189532171"/>
              </p:ext>
            </p:extLst>
          </p:nvPr>
        </p:nvGraphicFramePr>
        <p:xfrm>
          <a:off x="-166341" y="1680863"/>
          <a:ext cx="18288000" cy="676297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434547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00D6-44A0-A0C3-0B65-D21964D7861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244850-4F7D-AB9E-F554-20EC0333F99E}"/>
              </a:ext>
            </a:extLst>
          </p:cNvPr>
          <p:cNvGrpSpPr/>
          <p:nvPr/>
        </p:nvGrpSpPr>
        <p:grpSpPr>
          <a:xfrm>
            <a:off x="0" y="9208000"/>
            <a:ext cx="18288000" cy="1078800"/>
            <a:chOff x="0" y="0"/>
            <a:chExt cx="24384000" cy="1438400"/>
          </a:xfrm>
        </p:grpSpPr>
        <p:sp>
          <p:nvSpPr>
            <p:cNvPr id="3" name="Freeform 3">
              <a:extLst>
                <a:ext uri="{FF2B5EF4-FFF2-40B4-BE49-F238E27FC236}">
                  <a16:creationId xmlns:a16="http://schemas.microsoft.com/office/drawing/2014/main" id="{1CC8FE2E-62D3-F561-2FE2-A0A8306BF1EC}"/>
                </a:ext>
              </a:extLst>
            </p:cNvPr>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a:extLst>
              <a:ext uri="{FF2B5EF4-FFF2-40B4-BE49-F238E27FC236}">
                <a16:creationId xmlns:a16="http://schemas.microsoft.com/office/drawing/2014/main" id="{1EC5CCEE-48D9-13CD-9B66-60EE9D5FB9EA}"/>
              </a:ext>
            </a:extLst>
          </p:cNvPr>
          <p:cNvSpPr/>
          <p:nvPr/>
        </p:nvSpPr>
        <p:spPr>
          <a:xfrm flipH="1">
            <a:off x="17186638" y="3248324"/>
            <a:ext cx="3466448" cy="3466448"/>
          </a:xfrm>
          <a:custGeom>
            <a:avLst/>
            <a:gdLst/>
            <a:ahLst/>
            <a:cxnLst/>
            <a:rect l="l" t="t" r="r" b="b"/>
            <a:pathLst>
              <a:path w="3466448" h="3466448">
                <a:moveTo>
                  <a:pt x="3466448" y="0"/>
                </a:moveTo>
                <a:lnTo>
                  <a:pt x="0" y="0"/>
                </a:lnTo>
                <a:lnTo>
                  <a:pt x="0" y="3466448"/>
                </a:lnTo>
                <a:lnTo>
                  <a:pt x="3466448" y="3466448"/>
                </a:lnTo>
                <a:lnTo>
                  <a:pt x="3466448" y="0"/>
                </a:lnTo>
                <a:close/>
              </a:path>
            </a:pathLst>
          </a:custGeom>
          <a:blipFill>
            <a:blip r:embed="rId3"/>
            <a:stretch>
              <a:fillRect/>
            </a:stretch>
          </a:blipFill>
        </p:spPr>
        <p:txBody>
          <a:bodyPr/>
          <a:lstStyle/>
          <a:p>
            <a:endParaRPr lang="pl-PL"/>
          </a:p>
        </p:txBody>
      </p:sp>
      <p:sp>
        <p:nvSpPr>
          <p:cNvPr id="5" name="Freeform 5">
            <a:extLst>
              <a:ext uri="{FF2B5EF4-FFF2-40B4-BE49-F238E27FC236}">
                <a16:creationId xmlns:a16="http://schemas.microsoft.com/office/drawing/2014/main" id="{732E9F20-9740-8738-1F75-44F5D20F719E}"/>
              </a:ext>
            </a:extLst>
          </p:cNvPr>
          <p:cNvSpPr/>
          <p:nvPr/>
        </p:nvSpPr>
        <p:spPr>
          <a:xfrm rot="-5400000" flipH="1">
            <a:off x="1453436" y="-1464408"/>
            <a:ext cx="1118936" cy="3651998"/>
          </a:xfrm>
          <a:custGeom>
            <a:avLst/>
            <a:gdLst/>
            <a:ahLst/>
            <a:cxnLst/>
            <a:rect l="l" t="t" r="r" b="b"/>
            <a:pathLst>
              <a:path w="1118936" h="3651998">
                <a:moveTo>
                  <a:pt x="1118936" y="0"/>
                </a:moveTo>
                <a:lnTo>
                  <a:pt x="0" y="0"/>
                </a:lnTo>
                <a:lnTo>
                  <a:pt x="0" y="3651998"/>
                </a:lnTo>
                <a:lnTo>
                  <a:pt x="1118936" y="3651998"/>
                </a:lnTo>
                <a:lnTo>
                  <a:pt x="1118936" y="0"/>
                </a:lnTo>
                <a:close/>
              </a:path>
            </a:pathLst>
          </a:custGeom>
          <a:blipFill>
            <a:blip r:embed="rId4"/>
            <a:stretch>
              <a:fillRect l="-1" r="-1"/>
            </a:stretch>
          </a:blipFill>
        </p:spPr>
        <p:txBody>
          <a:bodyPr/>
          <a:lstStyle/>
          <a:p>
            <a:endParaRPr lang="pl-PL"/>
          </a:p>
        </p:txBody>
      </p:sp>
      <p:sp>
        <p:nvSpPr>
          <p:cNvPr id="6" name="Freeform 6">
            <a:extLst>
              <a:ext uri="{FF2B5EF4-FFF2-40B4-BE49-F238E27FC236}">
                <a16:creationId xmlns:a16="http://schemas.microsoft.com/office/drawing/2014/main" id="{7798F915-7B58-B574-8665-F659C4D28767}"/>
              </a:ext>
            </a:extLst>
          </p:cNvPr>
          <p:cNvSpPr/>
          <p:nvPr/>
        </p:nvSpPr>
        <p:spPr>
          <a:xfrm flipH="1">
            <a:off x="-2115450" y="4726350"/>
            <a:ext cx="2735500" cy="2735500"/>
          </a:xfrm>
          <a:custGeom>
            <a:avLst/>
            <a:gdLst/>
            <a:ahLst/>
            <a:cxnLst/>
            <a:rect l="l" t="t" r="r" b="b"/>
            <a:pathLst>
              <a:path w="2735500" h="2735500">
                <a:moveTo>
                  <a:pt x="2735500" y="0"/>
                </a:moveTo>
                <a:lnTo>
                  <a:pt x="0" y="0"/>
                </a:lnTo>
                <a:lnTo>
                  <a:pt x="0" y="2735500"/>
                </a:lnTo>
                <a:lnTo>
                  <a:pt x="2735500" y="2735500"/>
                </a:lnTo>
                <a:lnTo>
                  <a:pt x="2735500" y="0"/>
                </a:lnTo>
                <a:close/>
              </a:path>
            </a:pathLst>
          </a:custGeom>
          <a:blipFill>
            <a:blip r:embed="rId5"/>
            <a:stretch>
              <a:fillRect/>
            </a:stretch>
          </a:blipFill>
        </p:spPr>
        <p:txBody>
          <a:bodyPr/>
          <a:lstStyle/>
          <a:p>
            <a:endParaRPr lang="pl-PL"/>
          </a:p>
        </p:txBody>
      </p:sp>
      <p:sp>
        <p:nvSpPr>
          <p:cNvPr id="7" name="Freeform 7">
            <a:extLst>
              <a:ext uri="{FF2B5EF4-FFF2-40B4-BE49-F238E27FC236}">
                <a16:creationId xmlns:a16="http://schemas.microsoft.com/office/drawing/2014/main" id="{EDFA651B-88D9-6D02-C4E5-E5A4655D2A8F}"/>
              </a:ext>
            </a:extLst>
          </p:cNvPr>
          <p:cNvSpPr/>
          <p:nvPr/>
        </p:nvSpPr>
        <p:spPr>
          <a:xfrm flipH="1">
            <a:off x="14645610" y="9444950"/>
            <a:ext cx="1842400" cy="1842400"/>
          </a:xfrm>
          <a:custGeom>
            <a:avLst/>
            <a:gdLst/>
            <a:ahLst/>
            <a:cxnLst/>
            <a:rect l="l" t="t" r="r" b="b"/>
            <a:pathLst>
              <a:path w="1842400" h="1842400">
                <a:moveTo>
                  <a:pt x="1842400" y="0"/>
                </a:moveTo>
                <a:lnTo>
                  <a:pt x="0" y="0"/>
                </a:lnTo>
                <a:lnTo>
                  <a:pt x="0" y="1842400"/>
                </a:lnTo>
                <a:lnTo>
                  <a:pt x="1842400" y="1842400"/>
                </a:lnTo>
                <a:lnTo>
                  <a:pt x="1842400" y="0"/>
                </a:lnTo>
                <a:close/>
              </a:path>
            </a:pathLst>
          </a:custGeom>
          <a:blipFill>
            <a:blip r:embed="rId6"/>
            <a:stretch>
              <a:fillRect/>
            </a:stretch>
          </a:blipFill>
        </p:spPr>
        <p:txBody>
          <a:bodyPr/>
          <a:lstStyle/>
          <a:p>
            <a:endParaRPr lang="pl-PL"/>
          </a:p>
        </p:txBody>
      </p:sp>
      <p:sp>
        <p:nvSpPr>
          <p:cNvPr id="8" name="Freeform 8">
            <a:extLst>
              <a:ext uri="{FF2B5EF4-FFF2-40B4-BE49-F238E27FC236}">
                <a16:creationId xmlns:a16="http://schemas.microsoft.com/office/drawing/2014/main" id="{73E49F42-E9BE-BD11-C50B-2ED77B207CBF}"/>
              </a:ext>
            </a:extLst>
          </p:cNvPr>
          <p:cNvSpPr/>
          <p:nvPr/>
        </p:nvSpPr>
        <p:spPr>
          <a:xfrm flipH="1">
            <a:off x="3826460" y="944495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9" name="Freeform 9">
            <a:extLst>
              <a:ext uri="{FF2B5EF4-FFF2-40B4-BE49-F238E27FC236}">
                <a16:creationId xmlns:a16="http://schemas.microsoft.com/office/drawing/2014/main" id="{8A8CF928-FBF3-04FF-F4CD-A3013DCD2635}"/>
              </a:ext>
            </a:extLst>
          </p:cNvPr>
          <p:cNvSpPr/>
          <p:nvPr/>
        </p:nvSpPr>
        <p:spPr>
          <a:xfrm flipH="1">
            <a:off x="12472060" y="-439610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25" name="pole tekstowe 24">
            <a:extLst>
              <a:ext uri="{FF2B5EF4-FFF2-40B4-BE49-F238E27FC236}">
                <a16:creationId xmlns:a16="http://schemas.microsoft.com/office/drawing/2014/main" id="{D25B34C6-CE6A-C0BD-1626-CFC2E60FA1ED}"/>
              </a:ext>
            </a:extLst>
          </p:cNvPr>
          <p:cNvSpPr txBox="1"/>
          <p:nvPr/>
        </p:nvSpPr>
        <p:spPr>
          <a:xfrm>
            <a:off x="1604116" y="880768"/>
            <a:ext cx="15079768" cy="1569660"/>
          </a:xfrm>
          <a:prstGeom prst="rect">
            <a:avLst/>
          </a:prstGeom>
          <a:noFill/>
        </p:spPr>
        <p:txBody>
          <a:bodyPr wrap="square">
            <a:spAutoFit/>
          </a:bodyPr>
          <a:lstStyle/>
          <a:p>
            <a:pPr algn="ctr"/>
            <a:r>
              <a:rPr lang="en-US" sz="4800" b="1" dirty="0">
                <a:latin typeface="Arimo Bold" panose="020B0604020202020204" charset="0"/>
                <a:ea typeface="Arimo Bold" panose="020B0604020202020204" charset="0"/>
                <a:cs typeface="Arimo Bold" panose="020B0604020202020204" charset="0"/>
              </a:rPr>
              <a:t>Model Predictions: </a:t>
            </a:r>
            <a:endParaRPr lang="pl-PL" sz="4800" b="1" dirty="0">
              <a:latin typeface="Arimo Bold" panose="020B0604020202020204" charset="0"/>
              <a:ea typeface="Arimo Bold" panose="020B0604020202020204" charset="0"/>
              <a:cs typeface="Arimo Bold" panose="020B0604020202020204" charset="0"/>
            </a:endParaRPr>
          </a:p>
          <a:p>
            <a:pPr algn="ctr"/>
            <a:r>
              <a:rPr lang="en-US" sz="4800" b="1" dirty="0">
                <a:latin typeface="Arimo Bold" panose="020B0604020202020204" charset="0"/>
                <a:ea typeface="Arimo Bold" panose="020B0604020202020204" charset="0"/>
                <a:cs typeface="Arimo Bold" panose="020B0604020202020204" charset="0"/>
              </a:rPr>
              <a:t>Actual vs Predicted CO₂ Emissions</a:t>
            </a:r>
            <a:endParaRPr lang="pl-PL" sz="4800" b="1" dirty="0">
              <a:latin typeface="Arimo Bold" panose="020B0604020202020204" charset="0"/>
              <a:ea typeface="Arimo Bold" panose="020B0604020202020204" charset="0"/>
              <a:cs typeface="Arimo Bold" panose="020B0604020202020204" charset="0"/>
            </a:endParaRPr>
          </a:p>
        </p:txBody>
      </p:sp>
      <p:pic>
        <p:nvPicPr>
          <p:cNvPr id="14" name="Obraz 13">
            <a:extLst>
              <a:ext uri="{FF2B5EF4-FFF2-40B4-BE49-F238E27FC236}">
                <a16:creationId xmlns:a16="http://schemas.microsoft.com/office/drawing/2014/main" id="{8AD594D3-992E-C192-5D01-D05223E9332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57636" y="2816441"/>
            <a:ext cx="13172728" cy="6025545"/>
          </a:xfrm>
          <a:prstGeom prst="rect">
            <a:avLst/>
          </a:prstGeom>
        </p:spPr>
      </p:pic>
    </p:spTree>
    <p:extLst>
      <p:ext uri="{BB962C8B-B14F-4D97-AF65-F5344CB8AC3E}">
        <p14:creationId xmlns:p14="http://schemas.microsoft.com/office/powerpoint/2010/main" val="2125490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75754"/>
        </a:solidFill>
        <a:effectLst/>
      </p:bgPr>
    </p:bg>
    <p:spTree>
      <p:nvGrpSpPr>
        <p:cNvPr id="1" name=""/>
        <p:cNvGrpSpPr/>
        <p:nvPr/>
      </p:nvGrpSpPr>
      <p:grpSpPr>
        <a:xfrm>
          <a:off x="0" y="0"/>
          <a:ext cx="0" cy="0"/>
          <a:chOff x="0" y="0"/>
          <a:chExt cx="0" cy="0"/>
        </a:xfrm>
      </p:grpSpPr>
      <p:grpSp>
        <p:nvGrpSpPr>
          <p:cNvPr id="2" name="Group 2"/>
          <p:cNvGrpSpPr/>
          <p:nvPr/>
        </p:nvGrpSpPr>
        <p:grpSpPr>
          <a:xfrm>
            <a:off x="0" y="9208000"/>
            <a:ext cx="18288000" cy="1078800"/>
            <a:chOff x="0" y="0"/>
            <a:chExt cx="24384000" cy="1438400"/>
          </a:xfrm>
        </p:grpSpPr>
        <p:sp>
          <p:nvSpPr>
            <p:cNvPr id="3" name="Freeform 3"/>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p:cNvSpPr/>
          <p:nvPr/>
        </p:nvSpPr>
        <p:spPr>
          <a:xfrm flipH="1">
            <a:off x="17186638" y="3248324"/>
            <a:ext cx="3466448" cy="3466448"/>
          </a:xfrm>
          <a:custGeom>
            <a:avLst/>
            <a:gdLst/>
            <a:ahLst/>
            <a:cxnLst/>
            <a:rect l="l" t="t" r="r" b="b"/>
            <a:pathLst>
              <a:path w="3466448" h="3466448">
                <a:moveTo>
                  <a:pt x="3466448" y="0"/>
                </a:moveTo>
                <a:lnTo>
                  <a:pt x="0" y="0"/>
                </a:lnTo>
                <a:lnTo>
                  <a:pt x="0" y="3466448"/>
                </a:lnTo>
                <a:lnTo>
                  <a:pt x="3466448" y="3466448"/>
                </a:lnTo>
                <a:lnTo>
                  <a:pt x="3466448" y="0"/>
                </a:lnTo>
                <a:close/>
              </a:path>
            </a:pathLst>
          </a:custGeom>
          <a:blipFill>
            <a:blip r:embed="rId3"/>
            <a:stretch>
              <a:fillRect/>
            </a:stretch>
          </a:blipFill>
        </p:spPr>
        <p:txBody>
          <a:bodyPr/>
          <a:lstStyle/>
          <a:p>
            <a:endParaRPr lang="pl-PL"/>
          </a:p>
        </p:txBody>
      </p:sp>
      <p:sp>
        <p:nvSpPr>
          <p:cNvPr id="5" name="Freeform 5"/>
          <p:cNvSpPr/>
          <p:nvPr/>
        </p:nvSpPr>
        <p:spPr>
          <a:xfrm rot="-5400000" flipH="1">
            <a:off x="1453436" y="-1464408"/>
            <a:ext cx="1118936" cy="3651998"/>
          </a:xfrm>
          <a:custGeom>
            <a:avLst/>
            <a:gdLst/>
            <a:ahLst/>
            <a:cxnLst/>
            <a:rect l="l" t="t" r="r" b="b"/>
            <a:pathLst>
              <a:path w="1118936" h="3651998">
                <a:moveTo>
                  <a:pt x="1118936" y="0"/>
                </a:moveTo>
                <a:lnTo>
                  <a:pt x="0" y="0"/>
                </a:lnTo>
                <a:lnTo>
                  <a:pt x="0" y="3651998"/>
                </a:lnTo>
                <a:lnTo>
                  <a:pt x="1118936" y="3651998"/>
                </a:lnTo>
                <a:lnTo>
                  <a:pt x="1118936" y="0"/>
                </a:lnTo>
                <a:close/>
              </a:path>
            </a:pathLst>
          </a:custGeom>
          <a:blipFill>
            <a:blip r:embed="rId4"/>
            <a:stretch>
              <a:fillRect l="-1" r="-1"/>
            </a:stretch>
          </a:blipFill>
        </p:spPr>
        <p:txBody>
          <a:bodyPr/>
          <a:lstStyle/>
          <a:p>
            <a:endParaRPr lang="pl-PL"/>
          </a:p>
        </p:txBody>
      </p:sp>
      <p:sp>
        <p:nvSpPr>
          <p:cNvPr id="6" name="Freeform 6"/>
          <p:cNvSpPr/>
          <p:nvPr/>
        </p:nvSpPr>
        <p:spPr>
          <a:xfrm flipH="1">
            <a:off x="-2115450" y="4726350"/>
            <a:ext cx="2735500" cy="2735500"/>
          </a:xfrm>
          <a:custGeom>
            <a:avLst/>
            <a:gdLst/>
            <a:ahLst/>
            <a:cxnLst/>
            <a:rect l="l" t="t" r="r" b="b"/>
            <a:pathLst>
              <a:path w="2735500" h="2735500">
                <a:moveTo>
                  <a:pt x="2735500" y="0"/>
                </a:moveTo>
                <a:lnTo>
                  <a:pt x="0" y="0"/>
                </a:lnTo>
                <a:lnTo>
                  <a:pt x="0" y="2735500"/>
                </a:lnTo>
                <a:lnTo>
                  <a:pt x="2735500" y="2735500"/>
                </a:lnTo>
                <a:lnTo>
                  <a:pt x="2735500" y="0"/>
                </a:lnTo>
                <a:close/>
              </a:path>
            </a:pathLst>
          </a:custGeom>
          <a:blipFill>
            <a:blip r:embed="rId5"/>
            <a:stretch>
              <a:fillRect/>
            </a:stretch>
          </a:blipFill>
        </p:spPr>
        <p:txBody>
          <a:bodyPr/>
          <a:lstStyle/>
          <a:p>
            <a:endParaRPr lang="pl-PL"/>
          </a:p>
        </p:txBody>
      </p:sp>
      <p:sp>
        <p:nvSpPr>
          <p:cNvPr id="7" name="Freeform 7"/>
          <p:cNvSpPr/>
          <p:nvPr/>
        </p:nvSpPr>
        <p:spPr>
          <a:xfrm flipH="1">
            <a:off x="14645610" y="9444950"/>
            <a:ext cx="1842400" cy="1842400"/>
          </a:xfrm>
          <a:custGeom>
            <a:avLst/>
            <a:gdLst/>
            <a:ahLst/>
            <a:cxnLst/>
            <a:rect l="l" t="t" r="r" b="b"/>
            <a:pathLst>
              <a:path w="1842400" h="1842400">
                <a:moveTo>
                  <a:pt x="1842400" y="0"/>
                </a:moveTo>
                <a:lnTo>
                  <a:pt x="0" y="0"/>
                </a:lnTo>
                <a:lnTo>
                  <a:pt x="0" y="1842400"/>
                </a:lnTo>
                <a:lnTo>
                  <a:pt x="1842400" y="1842400"/>
                </a:lnTo>
                <a:lnTo>
                  <a:pt x="1842400" y="0"/>
                </a:lnTo>
                <a:close/>
              </a:path>
            </a:pathLst>
          </a:custGeom>
          <a:blipFill>
            <a:blip r:embed="rId6"/>
            <a:stretch>
              <a:fillRect/>
            </a:stretch>
          </a:blipFill>
        </p:spPr>
        <p:txBody>
          <a:bodyPr/>
          <a:lstStyle/>
          <a:p>
            <a:endParaRPr lang="pl-PL"/>
          </a:p>
        </p:txBody>
      </p:sp>
      <p:sp>
        <p:nvSpPr>
          <p:cNvPr id="8" name="Freeform 8"/>
          <p:cNvSpPr/>
          <p:nvPr/>
        </p:nvSpPr>
        <p:spPr>
          <a:xfrm flipH="1">
            <a:off x="3826460" y="944495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9" name="Freeform 9"/>
          <p:cNvSpPr/>
          <p:nvPr/>
        </p:nvSpPr>
        <p:spPr>
          <a:xfrm flipH="1">
            <a:off x="12472060" y="-439610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19" name="Freeform 19"/>
          <p:cNvSpPr/>
          <p:nvPr/>
        </p:nvSpPr>
        <p:spPr>
          <a:xfrm>
            <a:off x="2257196" y="3599046"/>
            <a:ext cx="914406" cy="736602"/>
          </a:xfrm>
          <a:custGeom>
            <a:avLst/>
            <a:gdLst/>
            <a:ahLst/>
            <a:cxnLst/>
            <a:rect l="l" t="t" r="r" b="b"/>
            <a:pathLst>
              <a:path w="914406" h="736602">
                <a:moveTo>
                  <a:pt x="0" y="0"/>
                </a:moveTo>
                <a:lnTo>
                  <a:pt x="914406" y="0"/>
                </a:lnTo>
                <a:lnTo>
                  <a:pt x="914406" y="736602"/>
                </a:lnTo>
                <a:lnTo>
                  <a:pt x="0" y="7366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pl-PL"/>
          </a:p>
        </p:txBody>
      </p:sp>
      <p:sp>
        <p:nvSpPr>
          <p:cNvPr id="20" name="Freeform 20"/>
          <p:cNvSpPr/>
          <p:nvPr/>
        </p:nvSpPr>
        <p:spPr>
          <a:xfrm>
            <a:off x="10499880" y="3524432"/>
            <a:ext cx="914425" cy="914425"/>
          </a:xfrm>
          <a:custGeom>
            <a:avLst/>
            <a:gdLst/>
            <a:ahLst/>
            <a:cxnLst/>
            <a:rect l="l" t="t" r="r" b="b"/>
            <a:pathLst>
              <a:path w="914425" h="914425">
                <a:moveTo>
                  <a:pt x="0" y="0"/>
                </a:moveTo>
                <a:lnTo>
                  <a:pt x="914425" y="0"/>
                </a:lnTo>
                <a:lnTo>
                  <a:pt x="914425" y="914425"/>
                </a:lnTo>
                <a:lnTo>
                  <a:pt x="0" y="91442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pl-PL"/>
          </a:p>
        </p:txBody>
      </p:sp>
      <p:sp>
        <p:nvSpPr>
          <p:cNvPr id="25" name="pole tekstowe 24">
            <a:extLst>
              <a:ext uri="{FF2B5EF4-FFF2-40B4-BE49-F238E27FC236}">
                <a16:creationId xmlns:a16="http://schemas.microsoft.com/office/drawing/2014/main" id="{C34B85FA-111F-4A19-3645-46782FFE243E}"/>
              </a:ext>
            </a:extLst>
          </p:cNvPr>
          <p:cNvSpPr txBox="1"/>
          <p:nvPr/>
        </p:nvSpPr>
        <p:spPr>
          <a:xfrm>
            <a:off x="2289853" y="189916"/>
            <a:ext cx="12649200" cy="1754326"/>
          </a:xfrm>
          <a:prstGeom prst="rect">
            <a:avLst/>
          </a:prstGeom>
          <a:noFill/>
        </p:spPr>
        <p:txBody>
          <a:bodyPr wrap="square">
            <a:spAutoFit/>
          </a:bodyPr>
          <a:lstStyle/>
          <a:p>
            <a:pPr algn="ctr"/>
            <a:r>
              <a:rPr lang="en-US" sz="5400" b="1" dirty="0">
                <a:latin typeface="Arimo Bold" panose="020B0604020202020204" charset="0"/>
                <a:ea typeface="Arimo Bold" panose="020B0604020202020204" charset="0"/>
                <a:cs typeface="Arimo Bold" panose="020B0604020202020204" charset="0"/>
              </a:rPr>
              <a:t>What Factors Influence CO₂ Emissions the Most?</a:t>
            </a:r>
            <a:endParaRPr lang="pl-PL" sz="5400" b="1" dirty="0">
              <a:latin typeface="Arimo Bold" panose="020B0604020202020204" charset="0"/>
              <a:ea typeface="Arimo Bold" panose="020B0604020202020204" charset="0"/>
              <a:cs typeface="Arimo Bold" panose="020B0604020202020204" charset="0"/>
            </a:endParaRPr>
          </a:p>
        </p:txBody>
      </p:sp>
      <p:pic>
        <p:nvPicPr>
          <p:cNvPr id="27" name="Obraz 26">
            <a:extLst>
              <a:ext uri="{FF2B5EF4-FFF2-40B4-BE49-F238E27FC236}">
                <a16:creationId xmlns:a16="http://schemas.microsoft.com/office/drawing/2014/main" id="{2679AB25-9AD7-D1E4-49A2-D3CBE317863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540556" y="2181192"/>
            <a:ext cx="12874208" cy="73822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DDACE-44D8-8A2A-23AB-AE71E225FD9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10EDCA-AB5F-D03C-75D5-16B5EED5DFA2}"/>
              </a:ext>
            </a:extLst>
          </p:cNvPr>
          <p:cNvGrpSpPr/>
          <p:nvPr/>
        </p:nvGrpSpPr>
        <p:grpSpPr>
          <a:xfrm>
            <a:off x="0" y="9208000"/>
            <a:ext cx="18288000" cy="1078800"/>
            <a:chOff x="0" y="0"/>
            <a:chExt cx="24384000" cy="1438400"/>
          </a:xfrm>
        </p:grpSpPr>
        <p:sp>
          <p:nvSpPr>
            <p:cNvPr id="3" name="Freeform 3">
              <a:extLst>
                <a:ext uri="{FF2B5EF4-FFF2-40B4-BE49-F238E27FC236}">
                  <a16:creationId xmlns:a16="http://schemas.microsoft.com/office/drawing/2014/main" id="{E8878D3F-099B-7EED-F552-C91BA8937B9D}"/>
                </a:ext>
              </a:extLst>
            </p:cNvPr>
            <p:cNvSpPr/>
            <p:nvPr/>
          </p:nvSpPr>
          <p:spPr>
            <a:xfrm>
              <a:off x="0" y="0"/>
              <a:ext cx="24384000" cy="1438402"/>
            </a:xfrm>
            <a:custGeom>
              <a:avLst/>
              <a:gdLst/>
              <a:ahLst/>
              <a:cxnLst/>
              <a:rect l="l" t="t" r="r" b="b"/>
              <a:pathLst>
                <a:path w="24384000" h="1438402">
                  <a:moveTo>
                    <a:pt x="0" y="0"/>
                  </a:moveTo>
                  <a:lnTo>
                    <a:pt x="24384000" y="0"/>
                  </a:lnTo>
                  <a:lnTo>
                    <a:pt x="24384000" y="1438402"/>
                  </a:lnTo>
                  <a:lnTo>
                    <a:pt x="0" y="1438402"/>
                  </a:lnTo>
                  <a:close/>
                </a:path>
              </a:pathLst>
            </a:custGeom>
            <a:solidFill>
              <a:srgbClr val="36AE56"/>
            </a:solidFill>
          </p:spPr>
          <p:txBody>
            <a:bodyPr/>
            <a:lstStyle/>
            <a:p>
              <a:endParaRPr lang="pl-PL"/>
            </a:p>
          </p:txBody>
        </p:sp>
      </p:grpSp>
      <p:sp>
        <p:nvSpPr>
          <p:cNvPr id="4" name="Freeform 4">
            <a:extLst>
              <a:ext uri="{FF2B5EF4-FFF2-40B4-BE49-F238E27FC236}">
                <a16:creationId xmlns:a16="http://schemas.microsoft.com/office/drawing/2014/main" id="{B1991C9A-CD60-85D2-2406-06AA1713F3F5}"/>
              </a:ext>
            </a:extLst>
          </p:cNvPr>
          <p:cNvSpPr/>
          <p:nvPr/>
        </p:nvSpPr>
        <p:spPr>
          <a:xfrm flipH="1">
            <a:off x="17186638" y="3248324"/>
            <a:ext cx="3466448" cy="3466448"/>
          </a:xfrm>
          <a:custGeom>
            <a:avLst/>
            <a:gdLst/>
            <a:ahLst/>
            <a:cxnLst/>
            <a:rect l="l" t="t" r="r" b="b"/>
            <a:pathLst>
              <a:path w="3466448" h="3466448">
                <a:moveTo>
                  <a:pt x="3466448" y="0"/>
                </a:moveTo>
                <a:lnTo>
                  <a:pt x="0" y="0"/>
                </a:lnTo>
                <a:lnTo>
                  <a:pt x="0" y="3466448"/>
                </a:lnTo>
                <a:lnTo>
                  <a:pt x="3466448" y="3466448"/>
                </a:lnTo>
                <a:lnTo>
                  <a:pt x="3466448" y="0"/>
                </a:lnTo>
                <a:close/>
              </a:path>
            </a:pathLst>
          </a:custGeom>
          <a:blipFill>
            <a:blip r:embed="rId3"/>
            <a:stretch>
              <a:fillRect/>
            </a:stretch>
          </a:blipFill>
        </p:spPr>
        <p:txBody>
          <a:bodyPr/>
          <a:lstStyle/>
          <a:p>
            <a:endParaRPr lang="pl-PL"/>
          </a:p>
        </p:txBody>
      </p:sp>
      <p:sp>
        <p:nvSpPr>
          <p:cNvPr id="5" name="Freeform 5">
            <a:extLst>
              <a:ext uri="{FF2B5EF4-FFF2-40B4-BE49-F238E27FC236}">
                <a16:creationId xmlns:a16="http://schemas.microsoft.com/office/drawing/2014/main" id="{2D9F9A01-9C69-097A-6525-31F328F63AAC}"/>
              </a:ext>
            </a:extLst>
          </p:cNvPr>
          <p:cNvSpPr/>
          <p:nvPr/>
        </p:nvSpPr>
        <p:spPr>
          <a:xfrm rot="-5400000" flipH="1">
            <a:off x="1453436" y="-1464408"/>
            <a:ext cx="1118936" cy="3651998"/>
          </a:xfrm>
          <a:custGeom>
            <a:avLst/>
            <a:gdLst/>
            <a:ahLst/>
            <a:cxnLst/>
            <a:rect l="l" t="t" r="r" b="b"/>
            <a:pathLst>
              <a:path w="1118936" h="3651998">
                <a:moveTo>
                  <a:pt x="1118936" y="0"/>
                </a:moveTo>
                <a:lnTo>
                  <a:pt x="0" y="0"/>
                </a:lnTo>
                <a:lnTo>
                  <a:pt x="0" y="3651998"/>
                </a:lnTo>
                <a:lnTo>
                  <a:pt x="1118936" y="3651998"/>
                </a:lnTo>
                <a:lnTo>
                  <a:pt x="1118936" y="0"/>
                </a:lnTo>
                <a:close/>
              </a:path>
            </a:pathLst>
          </a:custGeom>
          <a:blipFill>
            <a:blip r:embed="rId4"/>
            <a:stretch>
              <a:fillRect l="-1" r="-1"/>
            </a:stretch>
          </a:blipFill>
        </p:spPr>
        <p:txBody>
          <a:bodyPr/>
          <a:lstStyle/>
          <a:p>
            <a:endParaRPr lang="pl-PL"/>
          </a:p>
        </p:txBody>
      </p:sp>
      <p:sp>
        <p:nvSpPr>
          <p:cNvPr id="6" name="Freeform 6">
            <a:extLst>
              <a:ext uri="{FF2B5EF4-FFF2-40B4-BE49-F238E27FC236}">
                <a16:creationId xmlns:a16="http://schemas.microsoft.com/office/drawing/2014/main" id="{91699020-0E06-8F40-0F5A-E3021E678532}"/>
              </a:ext>
            </a:extLst>
          </p:cNvPr>
          <p:cNvSpPr/>
          <p:nvPr/>
        </p:nvSpPr>
        <p:spPr>
          <a:xfrm flipH="1">
            <a:off x="-2115450" y="4726350"/>
            <a:ext cx="2735500" cy="2735500"/>
          </a:xfrm>
          <a:custGeom>
            <a:avLst/>
            <a:gdLst/>
            <a:ahLst/>
            <a:cxnLst/>
            <a:rect l="l" t="t" r="r" b="b"/>
            <a:pathLst>
              <a:path w="2735500" h="2735500">
                <a:moveTo>
                  <a:pt x="2735500" y="0"/>
                </a:moveTo>
                <a:lnTo>
                  <a:pt x="0" y="0"/>
                </a:lnTo>
                <a:lnTo>
                  <a:pt x="0" y="2735500"/>
                </a:lnTo>
                <a:lnTo>
                  <a:pt x="2735500" y="2735500"/>
                </a:lnTo>
                <a:lnTo>
                  <a:pt x="2735500" y="0"/>
                </a:lnTo>
                <a:close/>
              </a:path>
            </a:pathLst>
          </a:custGeom>
          <a:blipFill>
            <a:blip r:embed="rId5"/>
            <a:stretch>
              <a:fillRect/>
            </a:stretch>
          </a:blipFill>
        </p:spPr>
        <p:txBody>
          <a:bodyPr/>
          <a:lstStyle/>
          <a:p>
            <a:endParaRPr lang="pl-PL"/>
          </a:p>
        </p:txBody>
      </p:sp>
      <p:sp>
        <p:nvSpPr>
          <p:cNvPr id="7" name="Freeform 7">
            <a:extLst>
              <a:ext uri="{FF2B5EF4-FFF2-40B4-BE49-F238E27FC236}">
                <a16:creationId xmlns:a16="http://schemas.microsoft.com/office/drawing/2014/main" id="{F7F4F78E-DCCB-9F4F-E526-AF1A4E569526}"/>
              </a:ext>
            </a:extLst>
          </p:cNvPr>
          <p:cNvSpPr/>
          <p:nvPr/>
        </p:nvSpPr>
        <p:spPr>
          <a:xfrm flipH="1">
            <a:off x="14645610" y="9444950"/>
            <a:ext cx="1842400" cy="1842400"/>
          </a:xfrm>
          <a:custGeom>
            <a:avLst/>
            <a:gdLst/>
            <a:ahLst/>
            <a:cxnLst/>
            <a:rect l="l" t="t" r="r" b="b"/>
            <a:pathLst>
              <a:path w="1842400" h="1842400">
                <a:moveTo>
                  <a:pt x="1842400" y="0"/>
                </a:moveTo>
                <a:lnTo>
                  <a:pt x="0" y="0"/>
                </a:lnTo>
                <a:lnTo>
                  <a:pt x="0" y="1842400"/>
                </a:lnTo>
                <a:lnTo>
                  <a:pt x="1842400" y="1842400"/>
                </a:lnTo>
                <a:lnTo>
                  <a:pt x="1842400" y="0"/>
                </a:lnTo>
                <a:close/>
              </a:path>
            </a:pathLst>
          </a:custGeom>
          <a:blipFill>
            <a:blip r:embed="rId6"/>
            <a:stretch>
              <a:fillRect/>
            </a:stretch>
          </a:blipFill>
        </p:spPr>
        <p:txBody>
          <a:bodyPr/>
          <a:lstStyle/>
          <a:p>
            <a:endParaRPr lang="pl-PL"/>
          </a:p>
        </p:txBody>
      </p:sp>
      <p:sp>
        <p:nvSpPr>
          <p:cNvPr id="8" name="Freeform 8">
            <a:extLst>
              <a:ext uri="{FF2B5EF4-FFF2-40B4-BE49-F238E27FC236}">
                <a16:creationId xmlns:a16="http://schemas.microsoft.com/office/drawing/2014/main" id="{C9F0B58B-346B-1DDF-E8FD-1EC561E25597}"/>
              </a:ext>
            </a:extLst>
          </p:cNvPr>
          <p:cNvSpPr/>
          <p:nvPr/>
        </p:nvSpPr>
        <p:spPr>
          <a:xfrm flipH="1">
            <a:off x="3826460" y="944495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9" name="Freeform 9">
            <a:extLst>
              <a:ext uri="{FF2B5EF4-FFF2-40B4-BE49-F238E27FC236}">
                <a16:creationId xmlns:a16="http://schemas.microsoft.com/office/drawing/2014/main" id="{15198C6D-6F53-C224-73E8-6CC1F2967292}"/>
              </a:ext>
            </a:extLst>
          </p:cNvPr>
          <p:cNvSpPr/>
          <p:nvPr/>
        </p:nvSpPr>
        <p:spPr>
          <a:xfrm flipH="1">
            <a:off x="12472060" y="-4396100"/>
            <a:ext cx="5151200" cy="5151200"/>
          </a:xfrm>
          <a:custGeom>
            <a:avLst/>
            <a:gdLst/>
            <a:ahLst/>
            <a:cxnLst/>
            <a:rect l="l" t="t" r="r" b="b"/>
            <a:pathLst>
              <a:path w="5151200" h="5151200">
                <a:moveTo>
                  <a:pt x="5151200" y="0"/>
                </a:moveTo>
                <a:lnTo>
                  <a:pt x="0" y="0"/>
                </a:lnTo>
                <a:lnTo>
                  <a:pt x="0" y="5151200"/>
                </a:lnTo>
                <a:lnTo>
                  <a:pt x="5151200" y="5151200"/>
                </a:lnTo>
                <a:lnTo>
                  <a:pt x="5151200" y="0"/>
                </a:lnTo>
                <a:close/>
              </a:path>
            </a:pathLst>
          </a:custGeom>
          <a:blipFill>
            <a:blip r:embed="rId7"/>
            <a:stretch>
              <a:fillRect/>
            </a:stretch>
          </a:blipFill>
        </p:spPr>
        <p:txBody>
          <a:bodyPr/>
          <a:lstStyle/>
          <a:p>
            <a:endParaRPr lang="pl-PL"/>
          </a:p>
        </p:txBody>
      </p:sp>
      <p:sp>
        <p:nvSpPr>
          <p:cNvPr id="10" name="TextBox 12">
            <a:extLst>
              <a:ext uri="{FF2B5EF4-FFF2-40B4-BE49-F238E27FC236}">
                <a16:creationId xmlns:a16="http://schemas.microsoft.com/office/drawing/2014/main" id="{0AC9C543-70B8-A422-24E4-2F2623655903}"/>
              </a:ext>
            </a:extLst>
          </p:cNvPr>
          <p:cNvSpPr txBox="1"/>
          <p:nvPr/>
        </p:nvSpPr>
        <p:spPr>
          <a:xfrm>
            <a:off x="5351372" y="3803020"/>
            <a:ext cx="7252575" cy="1846659"/>
          </a:xfrm>
          <a:prstGeom prst="rect">
            <a:avLst/>
          </a:prstGeom>
        </p:spPr>
        <p:txBody>
          <a:bodyPr wrap="square" lIns="0" tIns="0" rIns="0" bIns="0" rtlCol="0" anchor="t">
            <a:spAutoFit/>
          </a:bodyPr>
          <a:lstStyle/>
          <a:p>
            <a:pPr algn="ctr">
              <a:spcBef>
                <a:spcPct val="0"/>
              </a:spcBef>
              <a:spcAft>
                <a:spcPts val="600"/>
              </a:spcAft>
            </a:pPr>
            <a:r>
              <a:rPr lang="pl-PL" sz="6000" b="1" dirty="0">
                <a:solidFill>
                  <a:schemeClr val="tx2"/>
                </a:solidFill>
                <a:latin typeface="Arimo Bold" panose="020B0604020202020204" charset="0"/>
                <a:ea typeface="Arimo Bold" panose="020B0604020202020204" charset="0"/>
                <a:cs typeface="Arimo Bold" panose="020B0604020202020204" charset="0"/>
                <a:sym typeface="Arimo Bold"/>
              </a:rPr>
              <a:t>THANK YOU FOR YOUR ATTENTION! </a:t>
            </a:r>
            <a:endParaRPr lang="en-US" sz="6000" b="1" dirty="0">
              <a:solidFill>
                <a:schemeClr val="tx2"/>
              </a:solidFill>
              <a:latin typeface="Arimo Bold" panose="020B0604020202020204" charset="0"/>
              <a:ea typeface="Arimo Bold" panose="020B0604020202020204" charset="0"/>
              <a:cs typeface="Arimo Bold" panose="020B0604020202020204" charset="0"/>
              <a:sym typeface="Arimo Bold"/>
            </a:endParaRPr>
          </a:p>
        </p:txBody>
      </p:sp>
    </p:spTree>
    <p:extLst>
      <p:ext uri="{BB962C8B-B14F-4D97-AF65-F5344CB8AC3E}">
        <p14:creationId xmlns:p14="http://schemas.microsoft.com/office/powerpoint/2010/main" val="37833077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Jon">
  <a:themeElements>
    <a:clrScheme name="J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J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J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56</TotalTime>
  <Words>571</Words>
  <Application>Microsoft Office PowerPoint</Application>
  <PresentationFormat>Niestandardowy</PresentationFormat>
  <Paragraphs>63</Paragraphs>
  <Slides>10</Slides>
  <Notes>9</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10</vt:i4>
      </vt:variant>
    </vt:vector>
  </HeadingPairs>
  <TitlesOfParts>
    <vt:vector size="17" baseType="lpstr">
      <vt:lpstr>Arial</vt:lpstr>
      <vt:lpstr>Century Gothic</vt:lpstr>
      <vt:lpstr>Wingdings 3</vt:lpstr>
      <vt:lpstr>Arimo Bold</vt:lpstr>
      <vt:lpstr>Calibri</vt:lpstr>
      <vt:lpstr>Inter</vt:lpstr>
      <vt:lpstr>Jon</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Biomass Energy by Slidesgo.pptx – kopija</dc:title>
  <dc:creator>Dominika Filipiak</dc:creator>
  <cp:lastModifiedBy>Dominika Filipiak</cp:lastModifiedBy>
  <cp:revision>2</cp:revision>
  <dcterms:created xsi:type="dcterms:W3CDTF">2006-08-16T00:00:00Z</dcterms:created>
  <dcterms:modified xsi:type="dcterms:W3CDTF">2026-04-09T10:07:19Z</dcterms:modified>
  <dc:identifier>DAHGWAyeUi0</dc:identifier>
</cp:coreProperties>
</file>